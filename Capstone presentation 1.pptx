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8" r:id="rId3"/>
    <p:sldId id="271" r:id="rId4"/>
    <p:sldId id="281" r:id="rId5"/>
    <p:sldId id="261" r:id="rId6"/>
    <p:sldId id="282" r:id="rId7"/>
    <p:sldId id="283" r:id="rId8"/>
    <p:sldId id="284" r:id="rId9"/>
    <p:sldId id="285" r:id="rId10"/>
    <p:sldId id="270" r:id="rId11"/>
  </p:sldIdLst>
  <p:sldSz cx="18288000" cy="10287000"/>
  <p:notesSz cx="6858000" cy="9144000"/>
  <p:embeddedFontLst>
    <p:embeddedFont>
      <p:font typeface="Consolas" panose="020B0609020204030204" pitchFamily="49" charset="0"/>
      <p:regular r:id="rId13"/>
      <p:bold r:id="rId14"/>
      <p:italic r:id="rId15"/>
      <p:boldItalic r:id="rId16"/>
    </p:embeddedFont>
    <p:embeddedFont>
      <p:font typeface="Open Sauce Bold" panose="020B0604020202020204" charset="0"/>
      <p:regular r:id="rId17"/>
    </p:embeddedFont>
    <p:embeddedFont>
      <p:font typeface="Bahnschrift" panose="020B0502040204020203" pitchFamily="34" charset="0"/>
      <p:regular r:id="rId18"/>
      <p:bold r:id="rId19"/>
    </p:embeddedFont>
    <p:embeddedFont>
      <p:font typeface="DM Sans Bold" panose="020B0604020202020204" charset="0"/>
      <p:regular r:id="rId20"/>
    </p:embeddedFont>
    <p:embeddedFont>
      <p:font typeface="Arial Rounded MT Bold" panose="020F0704030504030204" pitchFamily="34" charset="0"/>
      <p:regular r:id="rId21"/>
    </p:embeddedFont>
    <p:embeddedFont>
      <p:font typeface="Calibri" panose="020F0502020204030204" pitchFamily="34" charset="0"/>
      <p:regular r:id="rId22"/>
      <p:bold r:id="rId23"/>
      <p:italic r:id="rId24"/>
      <p:boldItalic r:id="rId25"/>
    </p:embeddedFont>
    <p:embeddedFont>
      <p:font typeface="Open Sauce Heavy"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060"/>
    <a:srgbClr val="F7F7F7"/>
    <a:srgbClr val="0B4541"/>
    <a:srgbClr val="0E3E35"/>
    <a:srgbClr val="0C322B"/>
    <a:srgbClr val="106861"/>
    <a:srgbClr val="00CC66"/>
    <a:srgbClr val="26AC89"/>
    <a:srgbClr val="109471"/>
    <a:srgbClr val="37AB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22" autoAdjust="0"/>
  </p:normalViewPr>
  <p:slideViewPr>
    <p:cSldViewPr>
      <p:cViewPr varScale="1">
        <p:scale>
          <a:sx n="42" d="100"/>
          <a:sy n="42" d="100"/>
        </p:scale>
        <p:origin x="76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773DF-FE04-44C3-936C-0FC7E22A7D1E}"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014EAC-EB86-46D7-936E-73F11F5547CF}" type="slidenum">
              <a:rPr lang="en-US" smtClean="0"/>
              <a:t>‹#›</a:t>
            </a:fld>
            <a:endParaRPr lang="en-US"/>
          </a:p>
        </p:txBody>
      </p:sp>
    </p:spTree>
    <p:extLst>
      <p:ext uri="{BB962C8B-B14F-4D97-AF65-F5344CB8AC3E}">
        <p14:creationId xmlns:p14="http://schemas.microsoft.com/office/powerpoint/2010/main" val="1452832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05386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57820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25473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98504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59538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6964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3" name="Group 3"/>
          <p:cNvGrpSpPr/>
          <p:nvPr/>
        </p:nvGrpSpPr>
        <p:grpSpPr>
          <a:xfrm>
            <a:off x="13792200" y="0"/>
            <a:ext cx="4495799" cy="10287000"/>
            <a:chOff x="0" y="0"/>
            <a:chExt cx="1384190" cy="3472227"/>
          </a:xfrm>
          <a:solidFill>
            <a:srgbClr val="106861"/>
          </a:solidFill>
        </p:grpSpPr>
        <p:sp>
          <p:nvSpPr>
            <p:cNvPr id="4" name="Freeform 4"/>
            <p:cNvSpPr/>
            <p:nvPr/>
          </p:nvSpPr>
          <p:spPr>
            <a:xfrm>
              <a:off x="0" y="0"/>
              <a:ext cx="1384190" cy="3472226"/>
            </a:xfrm>
            <a:custGeom>
              <a:avLst/>
              <a:gdLst/>
              <a:ahLst/>
              <a:cxnLst/>
              <a:rect l="l" t="t" r="r" b="b"/>
              <a:pathLst>
                <a:path w="1384190" h="3472226">
                  <a:moveTo>
                    <a:pt x="0" y="0"/>
                  </a:moveTo>
                  <a:lnTo>
                    <a:pt x="1384190" y="0"/>
                  </a:lnTo>
                  <a:lnTo>
                    <a:pt x="1384190" y="3472226"/>
                  </a:lnTo>
                  <a:lnTo>
                    <a:pt x="0" y="3472226"/>
                  </a:lnTo>
                  <a:close/>
                </a:path>
              </a:pathLst>
            </a:custGeom>
            <a:grpFill/>
          </p:spPr>
        </p:sp>
        <p:sp>
          <p:nvSpPr>
            <p:cNvPr id="5" name="TextBox 5"/>
            <p:cNvSpPr txBox="1"/>
            <p:nvPr/>
          </p:nvSpPr>
          <p:spPr>
            <a:xfrm>
              <a:off x="0" y="-19050"/>
              <a:ext cx="1384190" cy="3491277"/>
            </a:xfrm>
            <a:prstGeom prst="rect">
              <a:avLst/>
            </a:prstGeom>
            <a:grpFill/>
          </p:spPr>
          <p:txBody>
            <a:bodyPr lIns="50800" tIns="50800" rIns="50800" bIns="50800" rtlCol="0" anchor="ctr"/>
            <a:lstStyle/>
            <a:p>
              <a:pPr algn="ctr">
                <a:lnSpc>
                  <a:spcPts val="2859"/>
                </a:lnSpc>
              </a:pPr>
              <a:endParaRPr/>
            </a:p>
          </p:txBody>
        </p:sp>
      </p:grpSp>
      <p:grpSp>
        <p:nvGrpSpPr>
          <p:cNvPr id="2" name="Group 1"/>
          <p:cNvGrpSpPr/>
          <p:nvPr/>
        </p:nvGrpSpPr>
        <p:grpSpPr>
          <a:xfrm>
            <a:off x="457200" y="2019300"/>
            <a:ext cx="13474242" cy="6471349"/>
            <a:chOff x="1051560" y="1742277"/>
            <a:chExt cx="13474242" cy="6471349"/>
          </a:xfrm>
        </p:grpSpPr>
        <p:grpSp>
          <p:nvGrpSpPr>
            <p:cNvPr id="15" name="Group 15"/>
            <p:cNvGrpSpPr/>
            <p:nvPr/>
          </p:nvGrpSpPr>
          <p:grpSpPr>
            <a:xfrm flipH="1">
              <a:off x="1051560" y="1943100"/>
              <a:ext cx="91440" cy="6270526"/>
              <a:chOff x="0" y="0"/>
              <a:chExt cx="20154" cy="1387261"/>
            </a:xfrm>
          </p:grpSpPr>
          <p:sp>
            <p:nvSpPr>
              <p:cNvPr id="16" name="Freeform 16"/>
              <p:cNvSpPr/>
              <p:nvPr/>
            </p:nvSpPr>
            <p:spPr>
              <a:xfrm>
                <a:off x="0" y="0"/>
                <a:ext cx="20154" cy="1387261"/>
              </a:xfrm>
              <a:custGeom>
                <a:avLst/>
                <a:gdLst/>
                <a:ahLst/>
                <a:cxnLst/>
                <a:rect l="l" t="t" r="r" b="b"/>
                <a:pathLst>
                  <a:path w="20154" h="1387261">
                    <a:moveTo>
                      <a:pt x="0" y="0"/>
                    </a:moveTo>
                    <a:lnTo>
                      <a:pt x="20154" y="0"/>
                    </a:lnTo>
                    <a:lnTo>
                      <a:pt x="20154" y="1387261"/>
                    </a:lnTo>
                    <a:lnTo>
                      <a:pt x="0" y="1387261"/>
                    </a:lnTo>
                    <a:close/>
                  </a:path>
                </a:pathLst>
              </a:custGeom>
              <a:solidFill>
                <a:srgbClr val="123D33"/>
              </a:solidFill>
              <a:ln cap="sq">
                <a:noFill/>
                <a:prstDash val="solid"/>
                <a:miter/>
              </a:ln>
            </p:spPr>
          </p:sp>
          <p:sp>
            <p:nvSpPr>
              <p:cNvPr id="17" name="TextBox 17"/>
              <p:cNvSpPr txBox="1"/>
              <p:nvPr/>
            </p:nvSpPr>
            <p:spPr>
              <a:xfrm>
                <a:off x="0" y="-19050"/>
                <a:ext cx="20154" cy="1406311"/>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8" name="TextBox 18"/>
            <p:cNvSpPr txBox="1"/>
            <p:nvPr/>
          </p:nvSpPr>
          <p:spPr>
            <a:xfrm>
              <a:off x="1295400" y="1742277"/>
              <a:ext cx="9544494" cy="968663"/>
            </a:xfrm>
            <a:prstGeom prst="rect">
              <a:avLst/>
            </a:prstGeom>
          </p:spPr>
          <p:txBody>
            <a:bodyPr lIns="0" tIns="0" rIns="0" bIns="0" rtlCol="0" anchor="t">
              <a:spAutoFit/>
            </a:bodyPr>
            <a:lstStyle/>
            <a:p>
              <a:pPr algn="l">
                <a:lnSpc>
                  <a:spcPts val="8551"/>
                </a:lnSpc>
              </a:pPr>
              <a:r>
                <a:rPr lang="en-US" sz="4400" b="1" spc="-122" dirty="0" smtClean="0">
                  <a:solidFill>
                    <a:srgbClr val="106861"/>
                  </a:solidFill>
                  <a:latin typeface="Open Sauce Bold"/>
                  <a:ea typeface="Open Sauce Bold"/>
                  <a:cs typeface="Open Sauce Bold"/>
                  <a:sym typeface="Open Sauce Bold"/>
                </a:rPr>
                <a:t>Capstone Project</a:t>
              </a:r>
              <a:endParaRPr lang="en-US" sz="4400" b="1" spc="-122" dirty="0">
                <a:solidFill>
                  <a:srgbClr val="106861"/>
                </a:solidFill>
                <a:latin typeface="Open Sauce Bold"/>
                <a:ea typeface="Open Sauce Bold"/>
                <a:cs typeface="Open Sauce Bold"/>
                <a:sym typeface="Open Sauce Bold"/>
              </a:endParaRPr>
            </a:p>
          </p:txBody>
        </p:sp>
        <p:sp>
          <p:nvSpPr>
            <p:cNvPr id="19" name="TextBox 19"/>
            <p:cNvSpPr txBox="1"/>
            <p:nvPr/>
          </p:nvSpPr>
          <p:spPr>
            <a:xfrm>
              <a:off x="1295400" y="3390900"/>
              <a:ext cx="13230402" cy="2821285"/>
            </a:xfrm>
            <a:prstGeom prst="rect">
              <a:avLst/>
            </a:prstGeom>
          </p:spPr>
          <p:txBody>
            <a:bodyPr wrap="square" lIns="0" tIns="0" rIns="0" bIns="0" rtlCol="0" anchor="t">
              <a:spAutoFit/>
            </a:bodyPr>
            <a:lstStyle/>
            <a:p>
              <a:pPr>
                <a:lnSpc>
                  <a:spcPts val="10987"/>
                </a:lnSpc>
              </a:pPr>
              <a:r>
                <a:rPr lang="en-US" sz="7848" b="1" spc="-156" dirty="0">
                  <a:solidFill>
                    <a:srgbClr val="191919"/>
                  </a:solidFill>
                  <a:latin typeface="Open Sauce Heavy"/>
                  <a:ea typeface="Open Sauce Heavy"/>
                  <a:cs typeface="Open Sauce Heavy"/>
                  <a:sym typeface="Open Sauce Heavy"/>
                </a:rPr>
                <a:t>Customer Purchase </a:t>
              </a:r>
              <a:r>
                <a:rPr lang="en-GB" sz="7848" b="1" spc="-156" dirty="0" smtClean="0">
                  <a:solidFill>
                    <a:srgbClr val="191919"/>
                  </a:solidFill>
                  <a:latin typeface="Open Sauce Heavy"/>
                  <a:ea typeface="Open Sauce Heavy"/>
                  <a:cs typeface="Open Sauce Heavy"/>
                  <a:sym typeface="Open Sauce Heavy"/>
                </a:rPr>
                <a:t>Behaviour in Spotify User</a:t>
              </a:r>
              <a:endParaRPr lang="en-GB" sz="7848" b="1" spc="-156" dirty="0">
                <a:solidFill>
                  <a:srgbClr val="191919"/>
                </a:solidFill>
                <a:latin typeface="Open Sauce Heavy"/>
                <a:ea typeface="Open Sauce Heavy"/>
                <a:cs typeface="Open Sauce Heavy"/>
                <a:sym typeface="Open Sauce Heavy"/>
              </a:endParaRPr>
            </a:p>
          </p:txBody>
        </p:sp>
        <p:sp>
          <p:nvSpPr>
            <p:cNvPr id="20" name="TextBox 20"/>
            <p:cNvSpPr txBox="1"/>
            <p:nvPr/>
          </p:nvSpPr>
          <p:spPr>
            <a:xfrm>
              <a:off x="1295400" y="6353536"/>
              <a:ext cx="10596567" cy="1077218"/>
            </a:xfrm>
            <a:prstGeom prst="rect">
              <a:avLst/>
            </a:prstGeom>
          </p:spPr>
          <p:txBody>
            <a:bodyPr lIns="0" tIns="0" rIns="0" bIns="0" rtlCol="0" anchor="t">
              <a:spAutoFit/>
            </a:bodyPr>
            <a:lstStyle/>
            <a:p>
              <a:pPr algn="l">
                <a:lnSpc>
                  <a:spcPts val="4195"/>
                </a:lnSpc>
              </a:pPr>
              <a:r>
                <a:rPr lang="en-US" sz="3018" b="1" spc="241" dirty="0">
                  <a:solidFill>
                    <a:srgbClr val="333231"/>
                  </a:solidFill>
                  <a:latin typeface="DM Sans Bold"/>
                  <a:ea typeface="DM Sans Bold"/>
                  <a:cs typeface="DM Sans Bold"/>
                  <a:sym typeface="DM Sans Bold"/>
                </a:rPr>
                <a:t>IBEKWE DIVINE UFOK</a:t>
              </a:r>
            </a:p>
            <a:p>
              <a:pPr algn="l">
                <a:lnSpc>
                  <a:spcPts val="4195"/>
                </a:lnSpc>
              </a:pPr>
              <a:endParaRPr lang="en-US" sz="3018" b="1" spc="241" dirty="0">
                <a:solidFill>
                  <a:srgbClr val="333231"/>
                </a:solidFill>
                <a:latin typeface="DM Sans Bold"/>
                <a:ea typeface="DM Sans Bold"/>
                <a:cs typeface="DM Sans Bold"/>
                <a:sym typeface="DM Sans Bold"/>
              </a:endParaRPr>
            </a:p>
          </p:txBody>
        </p:sp>
      </p:grpSp>
      <p:pic>
        <p:nvPicPr>
          <p:cNvPr id="22" name="Image 0" descr="/home/claude/spotify_white.png"/>
          <p:cNvPicPr>
            <a:picLocks noChangeAspect="1"/>
          </p:cNvPicPr>
          <p:nvPr/>
        </p:nvPicPr>
        <p:blipFill>
          <a:blip r:embed="rId2"/>
          <a:stretch>
            <a:fillRect/>
          </a:stretch>
        </p:blipFill>
        <p:spPr>
          <a:xfrm>
            <a:off x="14430108" y="1257300"/>
            <a:ext cx="3048000" cy="3048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txBox="1">
            <a:spLocks/>
          </p:cNvSpPr>
          <p:nvPr/>
        </p:nvSpPr>
        <p:spPr>
          <a:xfrm>
            <a:off x="1524000" y="190500"/>
            <a:ext cx="13621761" cy="993914"/>
          </a:xfrm>
          <a:prstGeom prst="rect">
            <a:avLst/>
          </a:prstGeom>
        </p:spPr>
        <p:txBody>
          <a:bodyPr vert="horz" lIns="137160" tIns="68580" rIns="137160" bIns="68580" rtlCol="0" anchor="ctr">
            <a:no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lgn="ctr">
              <a:defRPr/>
            </a:pPr>
            <a:r>
              <a:rPr lang="en-US" sz="6600" b="1" dirty="0">
                <a:solidFill>
                  <a:schemeClr val="tx1"/>
                </a:solidFill>
                <a:latin typeface="+mn-lt"/>
                <a:ea typeface="Calibri" panose="020F0502020204030204" pitchFamily="34" charset="0"/>
                <a:cs typeface="Calibri" panose="020F0502020204030204" pitchFamily="34" charset="0"/>
              </a:rPr>
              <a:t>Outline</a:t>
            </a:r>
          </a:p>
        </p:txBody>
      </p:sp>
      <p:grpSp>
        <p:nvGrpSpPr>
          <p:cNvPr id="33" name="Group 32"/>
          <p:cNvGrpSpPr/>
          <p:nvPr/>
        </p:nvGrpSpPr>
        <p:grpSpPr>
          <a:xfrm>
            <a:off x="9791054" y="2933700"/>
            <a:ext cx="6591946" cy="6680776"/>
            <a:chOff x="9105254" y="2628900"/>
            <a:chExt cx="9481884" cy="6680776"/>
          </a:xfrm>
        </p:grpSpPr>
        <p:sp>
          <p:nvSpPr>
            <p:cNvPr id="5" name="TextBox 4"/>
            <p:cNvSpPr txBox="1"/>
            <p:nvPr/>
          </p:nvSpPr>
          <p:spPr>
            <a:xfrm>
              <a:off x="9105254" y="2628900"/>
              <a:ext cx="9404775"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Data Overview.</a:t>
              </a:r>
              <a:endParaRPr lang="en-US" sz="3200" dirty="0">
                <a:solidFill>
                  <a:prstClr val="black"/>
                </a:solidFill>
                <a:latin typeface="Open Sauce Bold" panose="020B0604020202020204" charset="0"/>
              </a:endParaRPr>
            </a:p>
          </p:txBody>
        </p:sp>
        <p:sp>
          <p:nvSpPr>
            <p:cNvPr id="6" name="TextBox 5"/>
            <p:cNvSpPr txBox="1"/>
            <p:nvPr/>
          </p:nvSpPr>
          <p:spPr>
            <a:xfrm>
              <a:off x="9144000" y="6515100"/>
              <a:ext cx="8885229"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Model.</a:t>
              </a:r>
              <a:endParaRPr lang="en-US" sz="3200" dirty="0">
                <a:solidFill>
                  <a:prstClr val="black"/>
                </a:solidFill>
                <a:latin typeface="Open Sauce Bold" panose="020B0604020202020204" charset="0"/>
              </a:endParaRPr>
            </a:p>
          </p:txBody>
        </p:sp>
        <p:sp>
          <p:nvSpPr>
            <p:cNvPr id="7" name="TextBox 6"/>
            <p:cNvSpPr txBox="1"/>
            <p:nvPr/>
          </p:nvSpPr>
          <p:spPr>
            <a:xfrm>
              <a:off x="9153042" y="3876212"/>
              <a:ext cx="8885228"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Data Cleaning.</a:t>
              </a:r>
              <a:endParaRPr lang="en-US" sz="3200" dirty="0">
                <a:solidFill>
                  <a:prstClr val="black"/>
                </a:solidFill>
                <a:latin typeface="Open Sauce Bold" panose="020B0604020202020204" charset="0"/>
              </a:endParaRPr>
            </a:p>
          </p:txBody>
        </p:sp>
        <p:sp>
          <p:nvSpPr>
            <p:cNvPr id="8" name="TextBox 7"/>
            <p:cNvSpPr txBox="1"/>
            <p:nvPr/>
          </p:nvSpPr>
          <p:spPr>
            <a:xfrm>
              <a:off x="9144000" y="5219700"/>
              <a:ext cx="9404775"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Findings and Visual Metrics.</a:t>
              </a:r>
              <a:endParaRPr lang="en-US" sz="3200" dirty="0">
                <a:solidFill>
                  <a:prstClr val="black"/>
                </a:solidFill>
                <a:latin typeface="Open Sauce Bold" panose="020B0604020202020204" charset="0"/>
              </a:endParaRPr>
            </a:p>
          </p:txBody>
        </p:sp>
        <p:sp>
          <p:nvSpPr>
            <p:cNvPr id="9" name="TextBox 8"/>
            <p:cNvSpPr txBox="1"/>
            <p:nvPr/>
          </p:nvSpPr>
          <p:spPr>
            <a:xfrm>
              <a:off x="9184037" y="7614299"/>
              <a:ext cx="9366938"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Recommendations</a:t>
              </a:r>
              <a:endParaRPr lang="en-US" sz="3200" dirty="0">
                <a:solidFill>
                  <a:prstClr val="black"/>
                </a:solidFill>
                <a:latin typeface="Open Sauce Bold" panose="020B0604020202020204" charset="0"/>
              </a:endParaRPr>
            </a:p>
          </p:txBody>
        </p:sp>
        <p:sp>
          <p:nvSpPr>
            <p:cNvPr id="17" name="TextBox 16"/>
            <p:cNvSpPr txBox="1"/>
            <p:nvPr/>
          </p:nvSpPr>
          <p:spPr>
            <a:xfrm>
              <a:off x="9220200" y="8724901"/>
              <a:ext cx="9366938"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Limitations and Suggestion</a:t>
              </a:r>
              <a:endParaRPr lang="en-US" sz="3600" dirty="0">
                <a:solidFill>
                  <a:prstClr val="black"/>
                </a:solidFill>
                <a:latin typeface="Open Sauce Bold" panose="020B0604020202020204" charset="0"/>
              </a:endParaRPr>
            </a:p>
          </p:txBody>
        </p:sp>
      </p:grpSp>
      <p:cxnSp>
        <p:nvCxnSpPr>
          <p:cNvPr id="35" name="Straight Connector 34"/>
          <p:cNvCxnSpPr/>
          <p:nvPr/>
        </p:nvCxnSpPr>
        <p:spPr>
          <a:xfrm>
            <a:off x="8610600" y="1333500"/>
            <a:ext cx="8077200" cy="0"/>
          </a:xfrm>
          <a:prstGeom prst="line">
            <a:avLst/>
          </a:prstGeom>
          <a:ln/>
        </p:spPr>
        <p:style>
          <a:lnRef idx="2">
            <a:schemeClr val="accent5"/>
          </a:lnRef>
          <a:fillRef idx="0">
            <a:schemeClr val="accent5"/>
          </a:fillRef>
          <a:effectRef idx="1">
            <a:schemeClr val="accent5"/>
          </a:effectRef>
          <a:fontRef idx="minor">
            <a:schemeClr val="tx1"/>
          </a:fontRef>
        </p:style>
      </p:cxnSp>
      <p:sp>
        <p:nvSpPr>
          <p:cNvPr id="38" name="TextBox 37"/>
          <p:cNvSpPr txBox="1"/>
          <p:nvPr/>
        </p:nvSpPr>
        <p:spPr>
          <a:xfrm>
            <a:off x="9753600" y="1638300"/>
            <a:ext cx="5105400" cy="584775"/>
          </a:xfrm>
          <a:prstGeom prst="rect">
            <a:avLst/>
          </a:prstGeom>
          <a:noFill/>
        </p:spPr>
        <p:txBody>
          <a:bodyPr wrap="square" rtlCol="0">
            <a:spAutoFit/>
          </a:bodyPr>
          <a:lstStyle/>
          <a:p>
            <a:r>
              <a:rPr lang="en-US" sz="3200" dirty="0" smtClean="0">
                <a:solidFill>
                  <a:prstClr val="black"/>
                </a:solidFill>
                <a:latin typeface="Open Sauce Bold" panose="020B0604020202020204" charset="0"/>
              </a:rPr>
              <a:t>Problem Statement.</a:t>
            </a:r>
            <a:endParaRPr lang="en-US" sz="3200" dirty="0">
              <a:solidFill>
                <a:prstClr val="black"/>
              </a:solidFill>
              <a:latin typeface="Open Sauce Bold" panose="020B0604020202020204" charset="0"/>
            </a:endParaRPr>
          </a:p>
        </p:txBody>
      </p:sp>
      <p:cxnSp>
        <p:nvCxnSpPr>
          <p:cNvPr id="50" name="Straight Connector 49"/>
          <p:cNvCxnSpPr/>
          <p:nvPr/>
        </p:nvCxnSpPr>
        <p:spPr>
          <a:xfrm>
            <a:off x="8610600" y="2476500"/>
            <a:ext cx="8077200"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1" name="Straight Connector 50"/>
          <p:cNvCxnSpPr/>
          <p:nvPr/>
        </p:nvCxnSpPr>
        <p:spPr>
          <a:xfrm>
            <a:off x="8610600" y="3695700"/>
            <a:ext cx="8077200"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2" name="Straight Connector 51"/>
          <p:cNvCxnSpPr/>
          <p:nvPr/>
        </p:nvCxnSpPr>
        <p:spPr>
          <a:xfrm>
            <a:off x="8686800" y="5067300"/>
            <a:ext cx="8077200"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3" name="Straight Connector 52"/>
          <p:cNvCxnSpPr/>
          <p:nvPr/>
        </p:nvCxnSpPr>
        <p:spPr>
          <a:xfrm>
            <a:off x="8686800" y="6362700"/>
            <a:ext cx="8077200"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4" name="Straight Connector 53"/>
          <p:cNvCxnSpPr/>
          <p:nvPr/>
        </p:nvCxnSpPr>
        <p:spPr>
          <a:xfrm>
            <a:off x="8610600" y="7581900"/>
            <a:ext cx="8077200"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5" name="Straight Connector 54"/>
          <p:cNvCxnSpPr/>
          <p:nvPr/>
        </p:nvCxnSpPr>
        <p:spPr>
          <a:xfrm>
            <a:off x="8610600" y="8801100"/>
            <a:ext cx="8077200" cy="0"/>
          </a:xfrm>
          <a:prstGeom prst="line">
            <a:avLst/>
          </a:prstGeom>
          <a:ln/>
        </p:spPr>
        <p:style>
          <a:lnRef idx="2">
            <a:schemeClr val="accent5"/>
          </a:lnRef>
          <a:fillRef idx="0">
            <a:schemeClr val="accent5"/>
          </a:fillRef>
          <a:effectRef idx="1">
            <a:schemeClr val="accent5"/>
          </a:effectRef>
          <a:fontRef idx="minor">
            <a:schemeClr val="tx1"/>
          </a:fontRef>
        </p:style>
      </p:cxnSp>
      <p:grpSp>
        <p:nvGrpSpPr>
          <p:cNvPr id="69" name="Group 3"/>
          <p:cNvGrpSpPr/>
          <p:nvPr/>
        </p:nvGrpSpPr>
        <p:grpSpPr>
          <a:xfrm rot="18033472">
            <a:off x="8614609" y="1440519"/>
            <a:ext cx="830181" cy="837204"/>
            <a:chOff x="0" y="0"/>
            <a:chExt cx="812800" cy="812800"/>
          </a:xfrm>
        </p:grpSpPr>
        <p:sp>
          <p:nvSpPr>
            <p:cNvPr id="70"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71"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3"/>
          <p:cNvGrpSpPr/>
          <p:nvPr/>
        </p:nvGrpSpPr>
        <p:grpSpPr>
          <a:xfrm rot="18033472">
            <a:off x="8614610" y="2704360"/>
            <a:ext cx="830181" cy="837204"/>
            <a:chOff x="0" y="0"/>
            <a:chExt cx="812800" cy="812800"/>
          </a:xfrm>
        </p:grpSpPr>
        <p:sp>
          <p:nvSpPr>
            <p:cNvPr id="73"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74"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3"/>
          <p:cNvGrpSpPr/>
          <p:nvPr/>
        </p:nvGrpSpPr>
        <p:grpSpPr>
          <a:xfrm rot="18033472">
            <a:off x="8614609" y="4075960"/>
            <a:ext cx="830181" cy="837204"/>
            <a:chOff x="0" y="0"/>
            <a:chExt cx="812800" cy="812800"/>
          </a:xfrm>
        </p:grpSpPr>
        <p:sp>
          <p:nvSpPr>
            <p:cNvPr id="76"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77"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78" name="Group 3"/>
          <p:cNvGrpSpPr/>
          <p:nvPr/>
        </p:nvGrpSpPr>
        <p:grpSpPr>
          <a:xfrm rot="18033472">
            <a:off x="8614609" y="5371360"/>
            <a:ext cx="830181" cy="837204"/>
            <a:chOff x="0" y="0"/>
            <a:chExt cx="812800" cy="812800"/>
          </a:xfrm>
        </p:grpSpPr>
        <p:sp>
          <p:nvSpPr>
            <p:cNvPr id="79"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80"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3"/>
          <p:cNvGrpSpPr/>
          <p:nvPr/>
        </p:nvGrpSpPr>
        <p:grpSpPr>
          <a:xfrm rot="18033472">
            <a:off x="8614610" y="6590560"/>
            <a:ext cx="830181" cy="837204"/>
            <a:chOff x="0" y="0"/>
            <a:chExt cx="812800" cy="812800"/>
          </a:xfrm>
        </p:grpSpPr>
        <p:sp>
          <p:nvSpPr>
            <p:cNvPr id="82"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83"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4" name="Group 3"/>
          <p:cNvGrpSpPr/>
          <p:nvPr/>
        </p:nvGrpSpPr>
        <p:grpSpPr>
          <a:xfrm rot="18033472">
            <a:off x="8690810" y="7885960"/>
            <a:ext cx="830181" cy="837204"/>
            <a:chOff x="0" y="0"/>
            <a:chExt cx="812800" cy="812800"/>
          </a:xfrm>
        </p:grpSpPr>
        <p:sp>
          <p:nvSpPr>
            <p:cNvPr id="85"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86"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7" name="Group 3"/>
          <p:cNvGrpSpPr/>
          <p:nvPr/>
        </p:nvGrpSpPr>
        <p:grpSpPr>
          <a:xfrm rot="18033472">
            <a:off x="8690809" y="8876561"/>
            <a:ext cx="830181" cy="837204"/>
            <a:chOff x="0" y="0"/>
            <a:chExt cx="812800" cy="812800"/>
          </a:xfrm>
        </p:grpSpPr>
        <p:sp>
          <p:nvSpPr>
            <p:cNvPr id="88"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89"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0" name="TextBox 89"/>
          <p:cNvSpPr txBox="1"/>
          <p:nvPr/>
        </p:nvSpPr>
        <p:spPr>
          <a:xfrm>
            <a:off x="8763000" y="6591300"/>
            <a:ext cx="1066800" cy="830997"/>
          </a:xfrm>
          <a:prstGeom prst="rect">
            <a:avLst/>
          </a:prstGeom>
          <a:noFill/>
        </p:spPr>
        <p:txBody>
          <a:bodyPr wrap="square" rtlCol="0">
            <a:spAutoFit/>
          </a:bodyPr>
          <a:lstStyle/>
          <a:p>
            <a:r>
              <a:rPr lang="en-US" sz="4800" b="1" dirty="0" smtClean="0">
                <a:solidFill>
                  <a:schemeClr val="bg1">
                    <a:lumMod val="95000"/>
                  </a:schemeClr>
                </a:solidFill>
              </a:rPr>
              <a:t>5</a:t>
            </a:r>
            <a:endParaRPr lang="en-US" sz="4800" b="1" dirty="0">
              <a:solidFill>
                <a:schemeClr val="bg1">
                  <a:lumMod val="95000"/>
                </a:schemeClr>
              </a:solidFill>
            </a:endParaRPr>
          </a:p>
        </p:txBody>
      </p:sp>
      <p:sp>
        <p:nvSpPr>
          <p:cNvPr id="91" name="TextBox 90"/>
          <p:cNvSpPr txBox="1"/>
          <p:nvPr/>
        </p:nvSpPr>
        <p:spPr>
          <a:xfrm>
            <a:off x="8763000" y="2705100"/>
            <a:ext cx="1066800" cy="830997"/>
          </a:xfrm>
          <a:prstGeom prst="rect">
            <a:avLst/>
          </a:prstGeom>
          <a:noFill/>
        </p:spPr>
        <p:txBody>
          <a:bodyPr wrap="square" rtlCol="0">
            <a:spAutoFit/>
          </a:bodyPr>
          <a:lstStyle/>
          <a:p>
            <a:r>
              <a:rPr lang="en-US" sz="4800" b="1" dirty="0" smtClean="0">
                <a:solidFill>
                  <a:schemeClr val="bg1">
                    <a:lumMod val="95000"/>
                  </a:schemeClr>
                </a:solidFill>
              </a:rPr>
              <a:t>2</a:t>
            </a:r>
            <a:endParaRPr lang="en-US" sz="4800" b="1" dirty="0">
              <a:solidFill>
                <a:schemeClr val="bg1">
                  <a:lumMod val="95000"/>
                </a:schemeClr>
              </a:solidFill>
            </a:endParaRPr>
          </a:p>
        </p:txBody>
      </p:sp>
      <p:sp>
        <p:nvSpPr>
          <p:cNvPr id="92" name="TextBox 91"/>
          <p:cNvSpPr txBox="1"/>
          <p:nvPr/>
        </p:nvSpPr>
        <p:spPr>
          <a:xfrm>
            <a:off x="8763000" y="4076700"/>
            <a:ext cx="1066800" cy="830997"/>
          </a:xfrm>
          <a:prstGeom prst="rect">
            <a:avLst/>
          </a:prstGeom>
          <a:noFill/>
        </p:spPr>
        <p:txBody>
          <a:bodyPr wrap="square" rtlCol="0">
            <a:spAutoFit/>
          </a:bodyPr>
          <a:lstStyle/>
          <a:p>
            <a:r>
              <a:rPr lang="en-US" sz="4800" b="1" dirty="0" smtClean="0">
                <a:solidFill>
                  <a:schemeClr val="bg1">
                    <a:lumMod val="95000"/>
                  </a:schemeClr>
                </a:solidFill>
              </a:rPr>
              <a:t>3</a:t>
            </a:r>
            <a:endParaRPr lang="en-US" sz="4800" b="1" dirty="0">
              <a:solidFill>
                <a:schemeClr val="bg1">
                  <a:lumMod val="95000"/>
                </a:schemeClr>
              </a:solidFill>
            </a:endParaRPr>
          </a:p>
        </p:txBody>
      </p:sp>
      <p:sp>
        <p:nvSpPr>
          <p:cNvPr id="93" name="TextBox 92"/>
          <p:cNvSpPr txBox="1"/>
          <p:nvPr/>
        </p:nvSpPr>
        <p:spPr>
          <a:xfrm>
            <a:off x="8763000" y="5372100"/>
            <a:ext cx="1066800" cy="830997"/>
          </a:xfrm>
          <a:prstGeom prst="rect">
            <a:avLst/>
          </a:prstGeom>
          <a:noFill/>
        </p:spPr>
        <p:txBody>
          <a:bodyPr wrap="square" rtlCol="0">
            <a:spAutoFit/>
          </a:bodyPr>
          <a:lstStyle/>
          <a:p>
            <a:r>
              <a:rPr lang="en-US" sz="4800" b="1" dirty="0" smtClean="0">
                <a:solidFill>
                  <a:schemeClr val="bg1">
                    <a:lumMod val="95000"/>
                  </a:schemeClr>
                </a:solidFill>
              </a:rPr>
              <a:t>4</a:t>
            </a:r>
            <a:endParaRPr lang="en-US" sz="4800" b="1" dirty="0">
              <a:solidFill>
                <a:schemeClr val="bg1">
                  <a:lumMod val="95000"/>
                </a:schemeClr>
              </a:solidFill>
            </a:endParaRPr>
          </a:p>
        </p:txBody>
      </p:sp>
      <p:sp>
        <p:nvSpPr>
          <p:cNvPr id="94" name="TextBox 93"/>
          <p:cNvSpPr txBox="1"/>
          <p:nvPr/>
        </p:nvSpPr>
        <p:spPr>
          <a:xfrm>
            <a:off x="8763000" y="1485900"/>
            <a:ext cx="1066800" cy="830997"/>
          </a:xfrm>
          <a:prstGeom prst="rect">
            <a:avLst/>
          </a:prstGeom>
          <a:noFill/>
        </p:spPr>
        <p:txBody>
          <a:bodyPr wrap="square" rtlCol="0">
            <a:spAutoFit/>
          </a:bodyPr>
          <a:lstStyle/>
          <a:p>
            <a:r>
              <a:rPr lang="en-US" sz="4800" b="1" dirty="0" smtClean="0">
                <a:solidFill>
                  <a:schemeClr val="bg1">
                    <a:lumMod val="95000"/>
                  </a:schemeClr>
                </a:solidFill>
              </a:rPr>
              <a:t>1</a:t>
            </a:r>
            <a:endParaRPr lang="en-US" sz="4800" b="1" dirty="0">
              <a:solidFill>
                <a:schemeClr val="bg1">
                  <a:lumMod val="95000"/>
                </a:schemeClr>
              </a:solidFill>
            </a:endParaRPr>
          </a:p>
        </p:txBody>
      </p:sp>
      <p:sp>
        <p:nvSpPr>
          <p:cNvPr id="95" name="TextBox 94"/>
          <p:cNvSpPr txBox="1"/>
          <p:nvPr/>
        </p:nvSpPr>
        <p:spPr>
          <a:xfrm>
            <a:off x="8839200" y="7886700"/>
            <a:ext cx="1066800" cy="830997"/>
          </a:xfrm>
          <a:prstGeom prst="rect">
            <a:avLst/>
          </a:prstGeom>
          <a:noFill/>
        </p:spPr>
        <p:txBody>
          <a:bodyPr wrap="square" rtlCol="0">
            <a:spAutoFit/>
          </a:bodyPr>
          <a:lstStyle/>
          <a:p>
            <a:r>
              <a:rPr lang="en-US" sz="4800" b="1" dirty="0" smtClean="0">
                <a:solidFill>
                  <a:schemeClr val="bg1">
                    <a:lumMod val="95000"/>
                  </a:schemeClr>
                </a:solidFill>
              </a:rPr>
              <a:t>6</a:t>
            </a:r>
            <a:endParaRPr lang="en-US" sz="4800" b="1" dirty="0">
              <a:solidFill>
                <a:schemeClr val="bg1">
                  <a:lumMod val="95000"/>
                </a:schemeClr>
              </a:solidFill>
            </a:endParaRPr>
          </a:p>
        </p:txBody>
      </p:sp>
      <p:sp>
        <p:nvSpPr>
          <p:cNvPr id="96" name="TextBox 95"/>
          <p:cNvSpPr txBox="1"/>
          <p:nvPr/>
        </p:nvSpPr>
        <p:spPr>
          <a:xfrm>
            <a:off x="8839200" y="8877300"/>
            <a:ext cx="1066800" cy="830997"/>
          </a:xfrm>
          <a:prstGeom prst="rect">
            <a:avLst/>
          </a:prstGeom>
          <a:noFill/>
        </p:spPr>
        <p:txBody>
          <a:bodyPr wrap="square" rtlCol="0">
            <a:spAutoFit/>
          </a:bodyPr>
          <a:lstStyle/>
          <a:p>
            <a:r>
              <a:rPr lang="en-US" sz="4800" b="1" dirty="0" smtClean="0">
                <a:solidFill>
                  <a:schemeClr val="bg1">
                    <a:lumMod val="95000"/>
                  </a:schemeClr>
                </a:solidFill>
              </a:rPr>
              <a:t>7</a:t>
            </a:r>
            <a:endParaRPr lang="en-US" sz="4800" b="1" dirty="0">
              <a:solidFill>
                <a:schemeClr val="bg1">
                  <a:lumMod val="95000"/>
                </a:schemeClr>
              </a:solidFill>
            </a:endParaRPr>
          </a:p>
        </p:txBody>
      </p:sp>
      <p:pic>
        <p:nvPicPr>
          <p:cNvPr id="1026" name="Picture 2" descr="Stockholm, Sweden. May 2, 2022. Editorial Use Only, 3D CGI. Spotify Signage  Logo on Top of Glass Building. Workplace Multinational Streaming and Media  Stock Photo - Alamy"/>
          <p:cNvPicPr>
            <a:picLocks noChangeAspect="1" noChangeArrowheads="1"/>
          </p:cNvPicPr>
          <p:nvPr/>
        </p:nvPicPr>
        <p:blipFill rotWithShape="1">
          <a:blip r:embed="rId2">
            <a:extLst>
              <a:ext uri="{28A0092B-C50C-407E-A947-70E740481C1C}">
                <a14:useLocalDpi xmlns:a14="http://schemas.microsoft.com/office/drawing/2010/main" val="0"/>
              </a:ext>
            </a:extLst>
          </a:blip>
          <a:srcRect l="8764" r="13095" b="8922"/>
          <a:stretch/>
        </p:blipFill>
        <p:spPr bwMode="auto">
          <a:xfrm>
            <a:off x="342898" y="1385808"/>
            <a:ext cx="8153401" cy="8228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6330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Freeform 2"/>
          <p:cNvSpPr/>
          <p:nvPr/>
        </p:nvSpPr>
        <p:spPr>
          <a:xfrm flipV="1">
            <a:off x="17678400" y="0"/>
            <a:ext cx="609600" cy="952500"/>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xmlns="" r:embed="rId3"/>
                </a:ext>
              </a:extLst>
            </a:blip>
            <a:srcRect/>
            <a:stretch>
              <a:fillRect b="-30856"/>
            </a:stretch>
          </a:blipFill>
          <a:ln cap="sq">
            <a:noFill/>
            <a:prstDash val="solid"/>
            <a:miter/>
          </a:ln>
        </p:spPr>
      </p:sp>
      <p:grpSp>
        <p:nvGrpSpPr>
          <p:cNvPr id="3" name="Group 3"/>
          <p:cNvGrpSpPr/>
          <p:nvPr/>
        </p:nvGrpSpPr>
        <p:grpSpPr>
          <a:xfrm>
            <a:off x="1066800" y="190500"/>
            <a:ext cx="457200" cy="4572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5"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a:grpSpLocks noChangeAspect="1"/>
          </p:cNvGrpSpPr>
          <p:nvPr/>
        </p:nvGrpSpPr>
        <p:grpSpPr>
          <a:xfrm rot="-10800000">
            <a:off x="0" y="1485900"/>
            <a:ext cx="536692" cy="1066800"/>
            <a:chOff x="0" y="0"/>
            <a:chExt cx="3198876" cy="6358509"/>
          </a:xfrm>
        </p:grpSpPr>
        <p:sp>
          <p:nvSpPr>
            <p:cNvPr id="7" name="Freeform 7"/>
            <p:cNvSpPr/>
            <p:nvPr/>
          </p:nvSpPr>
          <p:spPr>
            <a:xfrm>
              <a:off x="3937" y="3937"/>
              <a:ext cx="3191129" cy="6350635"/>
            </a:xfrm>
            <a:custGeom>
              <a:avLst/>
              <a:gdLst/>
              <a:ahLst/>
              <a:cxnLst/>
              <a:rect l="l" t="t" r="r" b="b"/>
              <a:pathLst>
                <a:path w="3191129" h="6350635">
                  <a:moveTo>
                    <a:pt x="3175254" y="0"/>
                  </a:moveTo>
                  <a:cubicBezTo>
                    <a:pt x="1421638" y="0"/>
                    <a:pt x="0" y="1421638"/>
                    <a:pt x="0" y="3175254"/>
                  </a:cubicBezTo>
                  <a:cubicBezTo>
                    <a:pt x="0" y="4928870"/>
                    <a:pt x="1421638" y="6350635"/>
                    <a:pt x="3175381" y="6350635"/>
                  </a:cubicBezTo>
                  <a:lnTo>
                    <a:pt x="3191129" y="4412361"/>
                  </a:lnTo>
                  <a:cubicBezTo>
                    <a:pt x="2512822" y="4412361"/>
                    <a:pt x="1963039" y="3862578"/>
                    <a:pt x="1963039" y="3184271"/>
                  </a:cubicBezTo>
                  <a:cubicBezTo>
                    <a:pt x="1963039" y="2505964"/>
                    <a:pt x="2512822" y="1956181"/>
                    <a:pt x="3191129" y="1956181"/>
                  </a:cubicBezTo>
                  <a:lnTo>
                    <a:pt x="3175254" y="0"/>
                  </a:lnTo>
                  <a:close/>
                </a:path>
              </a:pathLst>
            </a:custGeom>
            <a:solidFill>
              <a:srgbClr val="106861"/>
            </a:solidFill>
            <a:ln w="12700">
              <a:solidFill>
                <a:srgbClr val="1A7060"/>
              </a:solidFill>
            </a:ln>
          </p:spPr>
        </p:sp>
        <p:sp>
          <p:nvSpPr>
            <p:cNvPr id="8" name="Freeform 8"/>
            <p:cNvSpPr/>
            <p:nvPr/>
          </p:nvSpPr>
          <p:spPr>
            <a:xfrm>
              <a:off x="0" y="0"/>
              <a:ext cx="3198749" cy="6358509"/>
            </a:xfrm>
            <a:custGeom>
              <a:avLst/>
              <a:gdLst/>
              <a:ahLst/>
              <a:cxnLst/>
              <a:rect l="l" t="t" r="r" b="b"/>
              <a:pathLst>
                <a:path w="3198749" h="6358509">
                  <a:moveTo>
                    <a:pt x="3183128" y="6358509"/>
                  </a:moveTo>
                  <a:lnTo>
                    <a:pt x="3179318" y="6358509"/>
                  </a:lnTo>
                  <a:cubicBezTo>
                    <a:pt x="2750185" y="6358509"/>
                    <a:pt x="2333752" y="6274435"/>
                    <a:pt x="1941830" y="6108700"/>
                  </a:cubicBezTo>
                  <a:cubicBezTo>
                    <a:pt x="1563243" y="5948553"/>
                    <a:pt x="1223264" y="5719318"/>
                    <a:pt x="931291" y="5427345"/>
                  </a:cubicBezTo>
                  <a:cubicBezTo>
                    <a:pt x="639318" y="5135372"/>
                    <a:pt x="410083" y="4795393"/>
                    <a:pt x="249936" y="4416806"/>
                  </a:cubicBezTo>
                  <a:cubicBezTo>
                    <a:pt x="84074" y="4024757"/>
                    <a:pt x="0" y="3608451"/>
                    <a:pt x="0" y="3179191"/>
                  </a:cubicBezTo>
                  <a:cubicBezTo>
                    <a:pt x="0" y="2749931"/>
                    <a:pt x="84074" y="2333625"/>
                    <a:pt x="249809" y="1941703"/>
                  </a:cubicBezTo>
                  <a:cubicBezTo>
                    <a:pt x="409956" y="1563116"/>
                    <a:pt x="639191" y="1223137"/>
                    <a:pt x="931164" y="931164"/>
                  </a:cubicBezTo>
                  <a:cubicBezTo>
                    <a:pt x="1223137" y="639191"/>
                    <a:pt x="1563116" y="409956"/>
                    <a:pt x="1941703" y="249809"/>
                  </a:cubicBezTo>
                  <a:cubicBezTo>
                    <a:pt x="2333625" y="84074"/>
                    <a:pt x="2750058" y="0"/>
                    <a:pt x="3179191" y="0"/>
                  </a:cubicBezTo>
                  <a:lnTo>
                    <a:pt x="3183001" y="0"/>
                  </a:lnTo>
                  <a:lnTo>
                    <a:pt x="3183001" y="3810"/>
                  </a:lnTo>
                  <a:lnTo>
                    <a:pt x="3198749" y="1964055"/>
                  </a:lnTo>
                  <a:lnTo>
                    <a:pt x="3194812" y="1964055"/>
                  </a:lnTo>
                  <a:cubicBezTo>
                    <a:pt x="2867787" y="1964055"/>
                    <a:pt x="2560320" y="2091436"/>
                    <a:pt x="2329180" y="2322576"/>
                  </a:cubicBezTo>
                  <a:cubicBezTo>
                    <a:pt x="2097913" y="2553843"/>
                    <a:pt x="1970659" y="2861183"/>
                    <a:pt x="1970659" y="3188208"/>
                  </a:cubicBezTo>
                  <a:cubicBezTo>
                    <a:pt x="1970659" y="3515233"/>
                    <a:pt x="2098040" y="3822700"/>
                    <a:pt x="2329180" y="4053840"/>
                  </a:cubicBezTo>
                  <a:cubicBezTo>
                    <a:pt x="2560447" y="4285107"/>
                    <a:pt x="2867787" y="4412361"/>
                    <a:pt x="3194812" y="4412361"/>
                  </a:cubicBezTo>
                  <a:lnTo>
                    <a:pt x="3198749" y="4412361"/>
                  </a:lnTo>
                  <a:lnTo>
                    <a:pt x="3198749" y="4416298"/>
                  </a:lnTo>
                  <a:lnTo>
                    <a:pt x="3183128" y="6358509"/>
                  </a:lnTo>
                  <a:close/>
                  <a:moveTo>
                    <a:pt x="3175381" y="7747"/>
                  </a:moveTo>
                  <a:cubicBezTo>
                    <a:pt x="2748534" y="8255"/>
                    <a:pt x="2334514" y="92075"/>
                    <a:pt x="1944751" y="256921"/>
                  </a:cubicBezTo>
                  <a:cubicBezTo>
                    <a:pt x="1567053" y="416687"/>
                    <a:pt x="1227963" y="645287"/>
                    <a:pt x="936625" y="936625"/>
                  </a:cubicBezTo>
                  <a:cubicBezTo>
                    <a:pt x="645414" y="1227836"/>
                    <a:pt x="416687" y="1567053"/>
                    <a:pt x="256921" y="1944751"/>
                  </a:cubicBezTo>
                  <a:cubicBezTo>
                    <a:pt x="91567" y="2335784"/>
                    <a:pt x="7747" y="2751074"/>
                    <a:pt x="7747" y="3179191"/>
                  </a:cubicBezTo>
                  <a:cubicBezTo>
                    <a:pt x="7747" y="3607308"/>
                    <a:pt x="91567" y="4022725"/>
                    <a:pt x="256921" y="4413631"/>
                  </a:cubicBezTo>
                  <a:cubicBezTo>
                    <a:pt x="416687" y="4791329"/>
                    <a:pt x="645287" y="5130419"/>
                    <a:pt x="936625" y="5421757"/>
                  </a:cubicBezTo>
                  <a:cubicBezTo>
                    <a:pt x="1227836" y="5712968"/>
                    <a:pt x="1567053" y="5941695"/>
                    <a:pt x="1944751" y="6101461"/>
                  </a:cubicBezTo>
                  <a:cubicBezTo>
                    <a:pt x="2334514" y="6266307"/>
                    <a:pt x="2748534" y="6350127"/>
                    <a:pt x="3175381" y="6350635"/>
                  </a:cubicBezTo>
                  <a:lnTo>
                    <a:pt x="3191129" y="4420108"/>
                  </a:lnTo>
                  <a:cubicBezTo>
                    <a:pt x="2863469" y="4419092"/>
                    <a:pt x="2555621" y="4291076"/>
                    <a:pt x="2323846" y="4059301"/>
                  </a:cubicBezTo>
                  <a:cubicBezTo>
                    <a:pt x="2091182" y="3826637"/>
                    <a:pt x="1963039" y="3517265"/>
                    <a:pt x="1963039" y="3188208"/>
                  </a:cubicBezTo>
                  <a:cubicBezTo>
                    <a:pt x="1963039" y="2859151"/>
                    <a:pt x="2091182" y="2549779"/>
                    <a:pt x="2323846" y="2317115"/>
                  </a:cubicBezTo>
                  <a:cubicBezTo>
                    <a:pt x="2555621" y="2085340"/>
                    <a:pt x="2863469" y="1957324"/>
                    <a:pt x="3191129" y="1956308"/>
                  </a:cubicBezTo>
                  <a:lnTo>
                    <a:pt x="3175381" y="7747"/>
                  </a:lnTo>
                  <a:close/>
                </a:path>
              </a:pathLst>
            </a:custGeom>
            <a:solidFill>
              <a:srgbClr val="106861"/>
            </a:solidFill>
            <a:ln>
              <a:solidFill>
                <a:srgbClr val="1A7060"/>
              </a:solidFill>
            </a:ln>
          </p:spPr>
        </p:sp>
      </p:grpSp>
      <p:sp>
        <p:nvSpPr>
          <p:cNvPr id="15" name="TextBox 14"/>
          <p:cNvSpPr txBox="1"/>
          <p:nvPr/>
        </p:nvSpPr>
        <p:spPr>
          <a:xfrm>
            <a:off x="1943099" y="1312008"/>
            <a:ext cx="14401800" cy="8402300"/>
          </a:xfrm>
          <a:prstGeom prst="rect">
            <a:avLst/>
          </a:prstGeom>
          <a:noFill/>
        </p:spPr>
        <p:txBody>
          <a:bodyPr wrap="square" rtlCol="0">
            <a:spAutoFit/>
          </a:bodyPr>
          <a:lstStyle/>
          <a:p>
            <a:pPr marL="685800" indent="-685800">
              <a:lnSpc>
                <a:spcPct val="150000"/>
              </a:lnSpc>
              <a:buFont typeface="Arial" panose="020B0604020202020204" pitchFamily="34" charset="0"/>
              <a:buChar char="•"/>
            </a:pPr>
            <a:r>
              <a:rPr lang="en-US" sz="4000" dirty="0">
                <a:solidFill>
                  <a:schemeClr val="tx1">
                    <a:lumMod val="85000"/>
                    <a:lumOff val="15000"/>
                  </a:schemeClr>
                </a:solidFill>
                <a:latin typeface="Bahnschrift" panose="020B0502040204020203" pitchFamily="34" charset="0"/>
              </a:rPr>
              <a:t>To analyse and predict whether a Spotify user will choose a free or premium subscription plan, using data on their demographics, music genre preferences, and listening behaviour, so that Spotify can better target users for premium conversion, improve retention strategies, and increase revenue</a:t>
            </a:r>
            <a:r>
              <a:rPr lang="en-US" sz="4000" dirty="0" smtClean="0">
                <a:solidFill>
                  <a:schemeClr val="tx1">
                    <a:lumMod val="85000"/>
                    <a:lumOff val="15000"/>
                  </a:schemeClr>
                </a:solidFill>
                <a:latin typeface="Bahnschrift" panose="020B0502040204020203" pitchFamily="34" charset="0"/>
              </a:rPr>
              <a:t>.</a:t>
            </a:r>
          </a:p>
          <a:p>
            <a:pPr marL="685800" indent="-685800">
              <a:lnSpc>
                <a:spcPct val="150000"/>
              </a:lnSpc>
              <a:buFont typeface="Arial" panose="020B0604020202020204" pitchFamily="34" charset="0"/>
              <a:buChar char="•"/>
            </a:pPr>
            <a:endParaRPr lang="en-US" sz="4000" dirty="0">
              <a:solidFill>
                <a:schemeClr val="tx1">
                  <a:lumMod val="85000"/>
                  <a:lumOff val="15000"/>
                </a:schemeClr>
              </a:solidFill>
              <a:latin typeface="Bahnschrift" panose="020B0502040204020203" pitchFamily="34" charset="0"/>
            </a:endParaRPr>
          </a:p>
          <a:p>
            <a:pPr marL="685800" indent="-685800">
              <a:lnSpc>
                <a:spcPct val="150000"/>
              </a:lnSpc>
              <a:buFont typeface="Arial" panose="020B0604020202020204" pitchFamily="34" charset="0"/>
              <a:buChar char="•"/>
            </a:pPr>
            <a:r>
              <a:rPr lang="en-US" sz="4000" b="1" u="sng" dirty="0" smtClean="0">
                <a:solidFill>
                  <a:schemeClr val="tx1">
                    <a:lumMod val="85000"/>
                    <a:lumOff val="15000"/>
                  </a:schemeClr>
                </a:solidFill>
                <a:latin typeface="Bahnschrift" panose="020B0502040204020203" pitchFamily="34" charset="0"/>
              </a:rPr>
              <a:t>Expected output: </a:t>
            </a:r>
            <a:r>
              <a:rPr lang="en-US" sz="4000" dirty="0" smtClean="0">
                <a:solidFill>
                  <a:schemeClr val="tx1">
                    <a:lumMod val="85000"/>
                    <a:lumOff val="15000"/>
                  </a:schemeClr>
                </a:solidFill>
                <a:latin typeface="Bahnschrift" panose="020B0502040204020203" pitchFamily="34" charset="0"/>
              </a:rPr>
              <a:t>Improved </a:t>
            </a:r>
            <a:r>
              <a:rPr lang="en-US" sz="4000" dirty="0">
                <a:solidFill>
                  <a:schemeClr val="tx1">
                    <a:lumMod val="85000"/>
                    <a:lumOff val="15000"/>
                  </a:schemeClr>
                </a:solidFill>
                <a:latin typeface="Bahnschrift" panose="020B0502040204020203" pitchFamily="34" charset="0"/>
              </a:rPr>
              <a:t>user retention, </a:t>
            </a:r>
            <a:r>
              <a:rPr lang="en-US" sz="4000" dirty="0" smtClean="0">
                <a:solidFill>
                  <a:schemeClr val="tx1">
                    <a:lumMod val="85000"/>
                    <a:lumOff val="15000"/>
                  </a:schemeClr>
                </a:solidFill>
                <a:latin typeface="Bahnschrift" panose="020B0502040204020203" pitchFamily="34" charset="0"/>
              </a:rPr>
              <a:t>premium conversion</a:t>
            </a:r>
            <a:r>
              <a:rPr lang="en-US" sz="4000" dirty="0" smtClean="0">
                <a:solidFill>
                  <a:schemeClr val="tx1">
                    <a:lumMod val="85000"/>
                    <a:lumOff val="15000"/>
                  </a:schemeClr>
                </a:solidFill>
                <a:latin typeface="Bahnschrift" panose="020B0502040204020203" pitchFamily="34" charset="0"/>
              </a:rPr>
              <a:t>, </a:t>
            </a:r>
            <a:r>
              <a:rPr lang="en-US" sz="4000" dirty="0">
                <a:solidFill>
                  <a:schemeClr val="tx1">
                    <a:lumMod val="85000"/>
                    <a:lumOff val="15000"/>
                  </a:schemeClr>
                </a:solidFill>
                <a:latin typeface="Bahnschrift" panose="020B0502040204020203" pitchFamily="34" charset="0"/>
              </a:rPr>
              <a:t>and increased subscription revenue</a:t>
            </a:r>
            <a:r>
              <a:rPr lang="en-US" sz="4000" dirty="0" smtClean="0">
                <a:solidFill>
                  <a:schemeClr val="tx1">
                    <a:lumMod val="85000"/>
                    <a:lumOff val="15000"/>
                  </a:schemeClr>
                </a:solidFill>
                <a:latin typeface="Bahnschrift" panose="020B0502040204020203" pitchFamily="34" charset="0"/>
              </a:rPr>
              <a:t>.</a:t>
            </a:r>
            <a:endParaRPr lang="en-US" sz="4000" dirty="0">
              <a:solidFill>
                <a:schemeClr val="tx1">
                  <a:lumMod val="85000"/>
                  <a:lumOff val="15000"/>
                </a:schemeClr>
              </a:solidFill>
              <a:latin typeface="Bahnschrift" panose="020B0502040204020203" pitchFamily="34" charset="0"/>
            </a:endParaRPr>
          </a:p>
        </p:txBody>
      </p:sp>
      <p:sp>
        <p:nvSpPr>
          <p:cNvPr id="16" name="TextBox 15"/>
          <p:cNvSpPr txBox="1"/>
          <p:nvPr/>
        </p:nvSpPr>
        <p:spPr>
          <a:xfrm>
            <a:off x="4989444" y="238793"/>
            <a:ext cx="10137912" cy="1107996"/>
          </a:xfrm>
          <a:prstGeom prst="rect">
            <a:avLst/>
          </a:prstGeom>
          <a:noFill/>
        </p:spPr>
        <p:txBody>
          <a:bodyPr wrap="square" rtlCol="0">
            <a:spAutoFit/>
          </a:bodyPr>
          <a:lstStyle/>
          <a:p>
            <a:r>
              <a:rPr lang="en-US" sz="6600" b="1" dirty="0" smtClean="0"/>
              <a:t>PROBLEM STATEMENT</a:t>
            </a:r>
            <a:endParaRPr lang="en-US" sz="6600" b="1" dirty="0"/>
          </a:p>
        </p:txBody>
      </p:sp>
      <p:grpSp>
        <p:nvGrpSpPr>
          <p:cNvPr id="25" name="Group 3"/>
          <p:cNvGrpSpPr/>
          <p:nvPr/>
        </p:nvGrpSpPr>
        <p:grpSpPr>
          <a:xfrm rot="18033472">
            <a:off x="17071733" y="9371418"/>
            <a:ext cx="282848" cy="345262"/>
            <a:chOff x="0" y="0"/>
            <a:chExt cx="812800" cy="812800"/>
          </a:xfrm>
        </p:grpSpPr>
        <p:sp>
          <p:nvSpPr>
            <p:cNvPr id="26"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27"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3"/>
          <p:cNvGrpSpPr/>
          <p:nvPr/>
        </p:nvGrpSpPr>
        <p:grpSpPr>
          <a:xfrm rot="18033472">
            <a:off x="7302398" y="9156485"/>
            <a:ext cx="298986" cy="317930"/>
            <a:chOff x="0" y="0"/>
            <a:chExt cx="812800" cy="812800"/>
          </a:xfrm>
        </p:grpSpPr>
        <p:sp>
          <p:nvSpPr>
            <p:cNvPr id="30"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31"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
          <p:cNvGrpSpPr/>
          <p:nvPr/>
        </p:nvGrpSpPr>
        <p:grpSpPr>
          <a:xfrm rot="18033472">
            <a:off x="9169072" y="1961109"/>
            <a:ext cx="272109" cy="213573"/>
            <a:chOff x="0" y="0"/>
            <a:chExt cx="812800" cy="812800"/>
          </a:xfrm>
        </p:grpSpPr>
        <p:sp>
          <p:nvSpPr>
            <p:cNvPr id="33"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5D61"/>
            </a:solidFill>
          </p:spPr>
        </p:sp>
        <p:sp>
          <p:nvSpPr>
            <p:cNvPr id="34" name="TextBox 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33389059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80060" cy="10287000"/>
          </a:xfrm>
          <a:prstGeom prst="rect">
            <a:avLst/>
          </a:prstGeom>
          <a:solidFill>
            <a:srgbClr val="106861"/>
          </a:solidFill>
          <a:ln w="12700">
            <a:solidFill>
              <a:srgbClr val="106861"/>
            </a:solidFill>
            <a:prstDash val="solid"/>
          </a:ln>
        </p:spPr>
      </p:sp>
      <p:sp>
        <p:nvSpPr>
          <p:cNvPr id="5" name="Shape 3"/>
          <p:cNvSpPr/>
          <p:nvPr/>
        </p:nvSpPr>
        <p:spPr>
          <a:xfrm>
            <a:off x="4709832" y="1529113"/>
            <a:ext cx="7036759" cy="146456"/>
          </a:xfrm>
          <a:prstGeom prst="rect">
            <a:avLst/>
          </a:prstGeom>
          <a:solidFill>
            <a:srgbClr val="1A7060"/>
          </a:solidFill>
          <a:ln w="12700">
            <a:solidFill>
              <a:srgbClr val="87D9C4"/>
            </a:solidFill>
            <a:prstDash val="solid"/>
          </a:ln>
        </p:spPr>
      </p:sp>
      <p:pic>
        <p:nvPicPr>
          <p:cNvPr id="6" name="Image 0" descr="/home/claude/spotify_green.png"/>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7213580" y="246888"/>
            <a:ext cx="685800" cy="685800"/>
          </a:xfrm>
          <a:prstGeom prst="rect">
            <a:avLst/>
          </a:prstGeom>
        </p:spPr>
      </p:pic>
      <p:sp>
        <p:nvSpPr>
          <p:cNvPr id="9" name="Shape 6"/>
          <p:cNvSpPr/>
          <p:nvPr/>
        </p:nvSpPr>
        <p:spPr>
          <a:xfrm>
            <a:off x="786865" y="2709753"/>
            <a:ext cx="5486400" cy="109728"/>
          </a:xfrm>
          <a:prstGeom prst="roundRect">
            <a:avLst>
              <a:gd name="adj" fmla="val 100000"/>
            </a:avLst>
          </a:prstGeom>
          <a:solidFill>
            <a:srgbClr val="1A7060"/>
          </a:solidFill>
          <a:ln w="12700">
            <a:solidFill>
              <a:srgbClr val="1A7060"/>
            </a:solidFill>
            <a:prstDash val="solid"/>
          </a:ln>
        </p:spPr>
      </p:sp>
      <p:sp>
        <p:nvSpPr>
          <p:cNvPr id="10" name="Text 7"/>
          <p:cNvSpPr/>
          <p:nvPr/>
        </p:nvSpPr>
        <p:spPr>
          <a:xfrm>
            <a:off x="932688" y="2907792"/>
            <a:ext cx="4992624" cy="548640"/>
          </a:xfrm>
          <a:prstGeom prst="rect">
            <a:avLst/>
          </a:prstGeom>
          <a:noFill/>
          <a:ln/>
        </p:spPr>
        <p:txBody>
          <a:bodyPr wrap="square" lIns="0" tIns="0" rIns="0" bIns="0" rtlCol="0" anchor="ctr"/>
          <a:lstStyle/>
          <a:p>
            <a:endParaRPr lang="en-US" sz="1950" dirty="0"/>
          </a:p>
        </p:txBody>
      </p:sp>
      <p:sp>
        <p:nvSpPr>
          <p:cNvPr id="12" name="Shape 9"/>
          <p:cNvSpPr/>
          <p:nvPr/>
        </p:nvSpPr>
        <p:spPr>
          <a:xfrm>
            <a:off x="6515099" y="2743199"/>
            <a:ext cx="6210299" cy="4314565"/>
          </a:xfrm>
          <a:prstGeom prst="roundRect">
            <a:avLst>
              <a:gd name="adj" fmla="val 3404"/>
            </a:avLst>
          </a:prstGeom>
          <a:solidFill>
            <a:schemeClr val="bg1">
              <a:lumMod val="95000"/>
            </a:schemeClr>
          </a:solidFill>
          <a:ln/>
          <a:effectLst>
            <a:outerShdw blurRad="101600" dist="25400" dir="2700000" algn="bl" rotWithShape="0">
              <a:srgbClr val="000000">
                <a:alpha val="10000"/>
              </a:srgbClr>
            </a:outerShdw>
          </a:effectLst>
        </p:spPr>
      </p:sp>
      <p:sp>
        <p:nvSpPr>
          <p:cNvPr id="13" name="Shape 10"/>
          <p:cNvSpPr/>
          <p:nvPr/>
        </p:nvSpPr>
        <p:spPr>
          <a:xfrm>
            <a:off x="6515100" y="2743200"/>
            <a:ext cx="6210298" cy="72244"/>
          </a:xfrm>
          <a:prstGeom prst="roundRect">
            <a:avLst>
              <a:gd name="adj" fmla="val 100000"/>
            </a:avLst>
          </a:prstGeom>
          <a:solidFill>
            <a:srgbClr val="1A7060"/>
          </a:solidFill>
          <a:ln w="12700">
            <a:solidFill>
              <a:srgbClr val="1A7060"/>
            </a:solidFill>
            <a:prstDash val="solid"/>
          </a:ln>
        </p:spPr>
      </p:sp>
      <p:sp>
        <p:nvSpPr>
          <p:cNvPr id="14" name="Text 11"/>
          <p:cNvSpPr/>
          <p:nvPr/>
        </p:nvSpPr>
        <p:spPr>
          <a:xfrm>
            <a:off x="6761988" y="2907792"/>
            <a:ext cx="4992624" cy="548640"/>
          </a:xfrm>
          <a:prstGeom prst="rect">
            <a:avLst/>
          </a:prstGeom>
          <a:noFill/>
          <a:ln/>
        </p:spPr>
        <p:txBody>
          <a:bodyPr wrap="square" lIns="0" tIns="0" rIns="0" bIns="0" rtlCol="0" anchor="ctr"/>
          <a:lstStyle/>
          <a:p>
            <a:r>
              <a:rPr lang="en-US" sz="3200" b="1" dirty="0" smtClean="0">
                <a:solidFill>
                  <a:srgbClr val="106861"/>
                </a:solidFill>
                <a:latin typeface="Calibri" pitchFamily="34" charset="0"/>
                <a:ea typeface="Calibri" pitchFamily="34" charset="-122"/>
                <a:cs typeface="Calibri" pitchFamily="34" charset="-120"/>
              </a:rPr>
              <a:t>Features in the Data Set </a:t>
            </a:r>
            <a:endParaRPr lang="en-US" sz="3200" dirty="0"/>
          </a:p>
        </p:txBody>
      </p:sp>
      <p:sp>
        <p:nvSpPr>
          <p:cNvPr id="15" name="Text 12"/>
          <p:cNvSpPr/>
          <p:nvPr/>
        </p:nvSpPr>
        <p:spPr>
          <a:xfrm>
            <a:off x="6446519" y="3579884"/>
            <a:ext cx="5974081" cy="2263140"/>
          </a:xfrm>
          <a:prstGeom prst="rect">
            <a:avLst/>
          </a:prstGeom>
          <a:noFill/>
          <a:ln/>
        </p:spPr>
        <p:txBody>
          <a:bodyPr wrap="square" rtlCol="0" anchor="t"/>
          <a:lstStyle/>
          <a:p>
            <a:pPr marL="514350" indent="-514350">
              <a:buSzPct val="100000"/>
              <a:buChar char="•"/>
            </a:pPr>
            <a:r>
              <a:rPr lang="en-US" sz="2800" dirty="0" smtClean="0">
                <a:solidFill>
                  <a:srgbClr val="1A7060"/>
                </a:solidFill>
                <a:latin typeface="Calibri" pitchFamily="34" charset="0"/>
                <a:ea typeface="Calibri" pitchFamily="34" charset="-122"/>
                <a:cs typeface="Calibri" pitchFamily="34" charset="-120"/>
              </a:rPr>
              <a:t>Age (categorical)</a:t>
            </a:r>
          </a:p>
          <a:p>
            <a:pPr marL="514350" indent="-514350">
              <a:buSzPct val="100000"/>
              <a:buChar char="•"/>
            </a:pPr>
            <a:r>
              <a:rPr lang="en-US" sz="2800" dirty="0" smtClean="0">
                <a:solidFill>
                  <a:srgbClr val="1A7060"/>
                </a:solidFill>
                <a:latin typeface="Calibri" pitchFamily="34" charset="0"/>
                <a:ea typeface="Calibri" pitchFamily="34" charset="-122"/>
                <a:cs typeface="Calibri" pitchFamily="34" charset="-120"/>
              </a:rPr>
              <a:t>Gender (categorical)</a:t>
            </a:r>
            <a:endParaRPr lang="en-US" sz="2800" dirty="0">
              <a:solidFill>
                <a:srgbClr val="1A7060"/>
              </a:solidFill>
            </a:endParaRPr>
          </a:p>
          <a:p>
            <a:pPr marL="514350" indent="-514350">
              <a:buSzPct val="100000"/>
              <a:buChar char="•"/>
            </a:pPr>
            <a:r>
              <a:rPr lang="en-US" sz="2800" dirty="0" smtClean="0">
                <a:solidFill>
                  <a:srgbClr val="1A7060"/>
                </a:solidFill>
                <a:latin typeface="Calibri" pitchFamily="34" charset="0"/>
                <a:ea typeface="Calibri" pitchFamily="34" charset="-122"/>
                <a:cs typeface="Calibri" pitchFamily="34" charset="-120"/>
              </a:rPr>
              <a:t>Preferred </a:t>
            </a:r>
            <a:r>
              <a:rPr lang="en-US" sz="2800" dirty="0">
                <a:solidFill>
                  <a:srgbClr val="1A7060"/>
                </a:solidFill>
                <a:latin typeface="Calibri" pitchFamily="34" charset="0"/>
                <a:ea typeface="Calibri" pitchFamily="34" charset="-122"/>
                <a:cs typeface="Calibri" pitchFamily="34" charset="-120"/>
              </a:rPr>
              <a:t>premium </a:t>
            </a:r>
            <a:r>
              <a:rPr lang="en-US" sz="2800" dirty="0" smtClean="0">
                <a:solidFill>
                  <a:srgbClr val="1A7060"/>
                </a:solidFill>
                <a:latin typeface="Calibri" pitchFamily="34" charset="0"/>
                <a:ea typeface="Calibri" pitchFamily="34" charset="-122"/>
                <a:cs typeface="Calibri" pitchFamily="34" charset="-120"/>
              </a:rPr>
              <a:t>plan (categorical)</a:t>
            </a:r>
            <a:endParaRPr lang="en-US" sz="2800" dirty="0">
              <a:solidFill>
                <a:srgbClr val="1A7060"/>
              </a:solidFill>
            </a:endParaRPr>
          </a:p>
          <a:p>
            <a:pPr marL="514350" indent="-514350">
              <a:buSzPct val="100000"/>
              <a:buChar char="•"/>
            </a:pPr>
            <a:r>
              <a:rPr lang="en-US" sz="2800" dirty="0">
                <a:solidFill>
                  <a:srgbClr val="1A7060"/>
                </a:solidFill>
                <a:latin typeface="Calibri" pitchFamily="34" charset="0"/>
                <a:ea typeface="Calibri" pitchFamily="34" charset="-122"/>
                <a:cs typeface="Calibri" pitchFamily="34" charset="-120"/>
              </a:rPr>
              <a:t>Favourite music </a:t>
            </a:r>
            <a:r>
              <a:rPr lang="en-US" sz="2800" dirty="0" smtClean="0">
                <a:solidFill>
                  <a:srgbClr val="1A7060"/>
                </a:solidFill>
                <a:latin typeface="Calibri" pitchFamily="34" charset="0"/>
                <a:ea typeface="Calibri" pitchFamily="34" charset="-122"/>
                <a:cs typeface="Calibri" pitchFamily="34" charset="-120"/>
              </a:rPr>
              <a:t>genre (Categorical)</a:t>
            </a:r>
          </a:p>
          <a:p>
            <a:pPr marL="514350" indent="-514350">
              <a:buSzPct val="100000"/>
              <a:buChar char="•"/>
            </a:pPr>
            <a:r>
              <a:rPr lang="en-US" sz="2800" dirty="0" smtClean="0">
                <a:solidFill>
                  <a:srgbClr val="1A7060"/>
                </a:solidFill>
                <a:latin typeface="Calibri" pitchFamily="34" charset="0"/>
                <a:ea typeface="Calibri" pitchFamily="34" charset="-122"/>
                <a:cs typeface="Calibri" pitchFamily="34" charset="-120"/>
              </a:rPr>
              <a:t>Music recommendations rating (numerical)</a:t>
            </a:r>
            <a:endParaRPr lang="en-US" sz="2800" dirty="0">
              <a:solidFill>
                <a:srgbClr val="1A7060"/>
              </a:solidFill>
            </a:endParaRPr>
          </a:p>
        </p:txBody>
      </p:sp>
      <p:grpSp>
        <p:nvGrpSpPr>
          <p:cNvPr id="38" name="Group 37"/>
          <p:cNvGrpSpPr/>
          <p:nvPr/>
        </p:nvGrpSpPr>
        <p:grpSpPr>
          <a:xfrm>
            <a:off x="6462560" y="7261025"/>
            <a:ext cx="6262839" cy="1891954"/>
            <a:chOff x="685800" y="6240780"/>
            <a:chExt cx="5486400" cy="3351294"/>
          </a:xfrm>
        </p:grpSpPr>
        <p:sp>
          <p:nvSpPr>
            <p:cNvPr id="16" name="Shape 13"/>
            <p:cNvSpPr/>
            <p:nvPr/>
          </p:nvSpPr>
          <p:spPr>
            <a:xfrm>
              <a:off x="685800" y="6240780"/>
              <a:ext cx="5486400" cy="3223260"/>
            </a:xfrm>
            <a:prstGeom prst="roundRect">
              <a:avLst>
                <a:gd name="adj" fmla="val 3404"/>
              </a:avLst>
            </a:prstGeom>
            <a:solidFill>
              <a:schemeClr val="bg1">
                <a:lumMod val="95000"/>
              </a:schemeClr>
            </a:solidFill>
            <a:ln/>
            <a:effectLst>
              <a:outerShdw blurRad="101600" dist="25400" dir="2700000" algn="bl" rotWithShape="0">
                <a:srgbClr val="000000">
                  <a:alpha val="10000"/>
                </a:srgbClr>
              </a:outerShdw>
            </a:effectLst>
          </p:spPr>
        </p:sp>
        <p:sp>
          <p:nvSpPr>
            <p:cNvPr id="17" name="Shape 14"/>
            <p:cNvSpPr/>
            <p:nvPr/>
          </p:nvSpPr>
          <p:spPr>
            <a:xfrm>
              <a:off x="685800" y="6240780"/>
              <a:ext cx="5486400" cy="109728"/>
            </a:xfrm>
            <a:prstGeom prst="roundRect">
              <a:avLst>
                <a:gd name="adj" fmla="val 100000"/>
              </a:avLst>
            </a:prstGeom>
            <a:solidFill>
              <a:srgbClr val="1A7060"/>
            </a:solidFill>
            <a:ln w="12700">
              <a:solidFill>
                <a:srgbClr val="1A7060"/>
              </a:solidFill>
              <a:prstDash val="solid"/>
            </a:ln>
          </p:spPr>
        </p:sp>
        <p:sp>
          <p:nvSpPr>
            <p:cNvPr id="19" name="Text 16"/>
            <p:cNvSpPr/>
            <p:nvPr/>
          </p:nvSpPr>
          <p:spPr>
            <a:xfrm>
              <a:off x="766010" y="7328934"/>
              <a:ext cx="4992624" cy="2263140"/>
            </a:xfrm>
            <a:prstGeom prst="rect">
              <a:avLst/>
            </a:prstGeom>
            <a:noFill/>
            <a:ln/>
          </p:spPr>
          <p:txBody>
            <a:bodyPr wrap="square" rtlCol="0" anchor="t"/>
            <a:lstStyle/>
            <a:p>
              <a:pPr marL="514350" indent="-514350">
                <a:buSzPct val="100000"/>
                <a:buChar char="•"/>
              </a:pPr>
              <a:r>
                <a:rPr lang="en-US" sz="3200" dirty="0">
                  <a:solidFill>
                    <a:srgbClr val="1A7060"/>
                  </a:solidFill>
                  <a:latin typeface="Calibri" pitchFamily="34" charset="0"/>
                  <a:ea typeface="Calibri" pitchFamily="34" charset="-122"/>
                  <a:cs typeface="Calibri" pitchFamily="34" charset="-120"/>
                </a:rPr>
                <a:t>spotify_subscription_plan</a:t>
              </a:r>
              <a:endParaRPr lang="en-US" sz="3200" dirty="0">
                <a:solidFill>
                  <a:srgbClr val="1A7060"/>
                </a:solidFill>
              </a:endParaRPr>
            </a:p>
            <a:p>
              <a:pPr>
                <a:buSzPct val="100000"/>
              </a:pPr>
              <a:endParaRPr lang="en-US" sz="1725" dirty="0"/>
            </a:p>
          </p:txBody>
        </p:sp>
      </p:grpSp>
      <p:sp>
        <p:nvSpPr>
          <p:cNvPr id="36" name="Rectangle 35"/>
          <p:cNvSpPr/>
          <p:nvPr/>
        </p:nvSpPr>
        <p:spPr>
          <a:xfrm>
            <a:off x="4953000" y="373493"/>
            <a:ext cx="6579558" cy="1200329"/>
          </a:xfrm>
          <a:prstGeom prst="rect">
            <a:avLst/>
          </a:prstGeom>
        </p:spPr>
        <p:txBody>
          <a:bodyPr wrap="none">
            <a:spAutoFit/>
          </a:bodyPr>
          <a:lstStyle/>
          <a:p>
            <a:pPr lvl="0"/>
            <a:r>
              <a:rPr lang="en-US" sz="7200" b="1" dirty="0">
                <a:solidFill>
                  <a:srgbClr val="0B4541"/>
                </a:solidFill>
                <a:ea typeface="Calibri" panose="020F0502020204030204" pitchFamily="34" charset="0"/>
                <a:cs typeface="Calibri" panose="020F0502020204030204" pitchFamily="34" charset="0"/>
              </a:rPr>
              <a:t>DATA OVERVIEW</a:t>
            </a:r>
          </a:p>
        </p:txBody>
      </p:sp>
      <p:sp>
        <p:nvSpPr>
          <p:cNvPr id="18" name="Text 15"/>
          <p:cNvSpPr/>
          <p:nvPr/>
        </p:nvSpPr>
        <p:spPr>
          <a:xfrm>
            <a:off x="6542771" y="7447895"/>
            <a:ext cx="4992624" cy="548640"/>
          </a:xfrm>
          <a:prstGeom prst="rect">
            <a:avLst/>
          </a:prstGeom>
          <a:noFill/>
          <a:ln/>
        </p:spPr>
        <p:txBody>
          <a:bodyPr wrap="square" lIns="0" tIns="0" rIns="0" bIns="0" rtlCol="0" anchor="ctr"/>
          <a:lstStyle/>
          <a:p>
            <a:r>
              <a:rPr lang="en-US" sz="3200" b="1" dirty="0">
                <a:solidFill>
                  <a:srgbClr val="106861"/>
                </a:solidFill>
                <a:latin typeface="Calibri" pitchFamily="34" charset="0"/>
                <a:ea typeface="Calibri" pitchFamily="34" charset="-122"/>
                <a:cs typeface="Calibri" pitchFamily="34" charset="-120"/>
              </a:rPr>
              <a:t>Target </a:t>
            </a:r>
            <a:endParaRPr lang="en-US" sz="3200" dirty="0"/>
          </a:p>
        </p:txBody>
      </p:sp>
      <p:grpSp>
        <p:nvGrpSpPr>
          <p:cNvPr id="50" name="Group 49"/>
          <p:cNvGrpSpPr/>
          <p:nvPr/>
        </p:nvGrpSpPr>
        <p:grpSpPr>
          <a:xfrm>
            <a:off x="700655" y="3004967"/>
            <a:ext cx="5486400" cy="6148012"/>
            <a:chOff x="747560" y="3213634"/>
            <a:chExt cx="5486400" cy="6148012"/>
          </a:xfrm>
        </p:grpSpPr>
        <p:sp>
          <p:nvSpPr>
            <p:cNvPr id="8" name="Shape 5"/>
            <p:cNvSpPr/>
            <p:nvPr/>
          </p:nvSpPr>
          <p:spPr>
            <a:xfrm>
              <a:off x="747560" y="3213634"/>
              <a:ext cx="5486400" cy="6148012"/>
            </a:xfrm>
            <a:prstGeom prst="roundRect">
              <a:avLst>
                <a:gd name="adj" fmla="val 3404"/>
              </a:avLst>
            </a:prstGeom>
            <a:solidFill>
              <a:schemeClr val="bg1">
                <a:lumMod val="95000"/>
              </a:schemeClr>
            </a:solidFill>
            <a:ln/>
            <a:effectLst>
              <a:outerShdw blurRad="101600" dist="25400" dir="2700000" algn="bl" rotWithShape="0">
                <a:srgbClr val="000000">
                  <a:alpha val="10000"/>
                </a:srgbClr>
              </a:outerShdw>
            </a:effectLst>
          </p:spPr>
        </p:sp>
        <p:sp>
          <p:nvSpPr>
            <p:cNvPr id="4" name="Text 2"/>
            <p:cNvSpPr/>
            <p:nvPr/>
          </p:nvSpPr>
          <p:spPr>
            <a:xfrm>
              <a:off x="822960" y="6057900"/>
              <a:ext cx="5349239" cy="1524000"/>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3200" b="1" dirty="0" smtClean="0">
                  <a:solidFill>
                    <a:srgbClr val="106861"/>
                  </a:solidFill>
                  <a:latin typeface="Calibri" pitchFamily="34" charset="0"/>
                  <a:ea typeface="Calibri" pitchFamily="34" charset="-122"/>
                  <a:cs typeface="Calibri" pitchFamily="34" charset="-120"/>
                </a:rPr>
                <a:t>The data set used in this analysis is Spotify_data.csv</a:t>
              </a:r>
            </a:p>
            <a:p>
              <a:pPr marL="342900" indent="-342900">
                <a:buFont typeface="Arial" panose="020B0604020202020204" pitchFamily="34" charset="0"/>
                <a:buChar char="•"/>
              </a:pPr>
              <a:endParaRPr lang="en-US" sz="3200" b="1" dirty="0" smtClean="0">
                <a:solidFill>
                  <a:srgbClr val="106861"/>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3200" b="1" dirty="0" smtClean="0">
                  <a:solidFill>
                    <a:srgbClr val="106861"/>
                  </a:solidFill>
                  <a:latin typeface="Calibri" pitchFamily="34" charset="0"/>
                  <a:ea typeface="Calibri" pitchFamily="34" charset="-122"/>
                  <a:cs typeface="Calibri" pitchFamily="34" charset="-120"/>
                </a:rPr>
                <a:t>It  was gotten from a survey carried out on Spotify users.</a:t>
              </a:r>
            </a:p>
            <a:p>
              <a:pPr marL="342900" indent="-342900">
                <a:buFont typeface="Arial" panose="020B0604020202020204" pitchFamily="34" charset="0"/>
                <a:buChar char="•"/>
              </a:pPr>
              <a:endParaRPr lang="en-US" sz="3200" b="1" dirty="0" smtClean="0">
                <a:solidFill>
                  <a:srgbClr val="106861"/>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3200" b="1" dirty="0" smtClean="0">
                  <a:solidFill>
                    <a:srgbClr val="106861"/>
                  </a:solidFill>
                  <a:latin typeface="Calibri" pitchFamily="34" charset="0"/>
                  <a:ea typeface="Calibri" pitchFamily="34" charset="-122"/>
                  <a:cs typeface="Calibri" pitchFamily="34" charset="-120"/>
                </a:rPr>
                <a:t>The data contains categorical data and numerical data.</a:t>
              </a:r>
            </a:p>
            <a:p>
              <a:pPr marL="342900" indent="-342900">
                <a:buFont typeface="Arial" panose="020B0604020202020204" pitchFamily="34" charset="0"/>
                <a:buChar char="•"/>
              </a:pPr>
              <a:endParaRPr lang="en-US" sz="3200" b="1" dirty="0" smtClean="0">
                <a:solidFill>
                  <a:srgbClr val="106861"/>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3200" b="1" dirty="0" smtClean="0">
                  <a:solidFill>
                    <a:srgbClr val="106861"/>
                  </a:solidFill>
                  <a:latin typeface="Calibri" pitchFamily="34" charset="0"/>
                  <a:ea typeface="Calibri" pitchFamily="34" charset="-122"/>
                  <a:cs typeface="Calibri" pitchFamily="34" charset="-120"/>
                </a:rPr>
                <a:t>The dataset was loaded using Pandas’ read_csv()</a:t>
              </a:r>
            </a:p>
            <a:p>
              <a:pPr marL="342900" indent="-342900">
                <a:buFont typeface="Arial" panose="020B0604020202020204" pitchFamily="34" charset="0"/>
                <a:buChar char="•"/>
              </a:pPr>
              <a:endParaRPr lang="en-US" sz="3200" b="1" dirty="0" smtClean="0">
                <a:solidFill>
                  <a:srgbClr val="106861"/>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endParaRPr lang="en-US" sz="2100" dirty="0" smtClean="0">
                <a:solidFill>
                  <a:srgbClr val="106861"/>
                </a:solidFill>
                <a:latin typeface="Calibri" pitchFamily="34" charset="0"/>
                <a:ea typeface="Calibri" pitchFamily="34" charset="-122"/>
                <a:cs typeface="Calibri" pitchFamily="34" charset="-120"/>
              </a:endParaRPr>
            </a:p>
          </p:txBody>
        </p:sp>
      </p:grpSp>
      <p:grpSp>
        <p:nvGrpSpPr>
          <p:cNvPr id="39" name="Group 38"/>
          <p:cNvGrpSpPr/>
          <p:nvPr/>
        </p:nvGrpSpPr>
        <p:grpSpPr>
          <a:xfrm>
            <a:off x="12420600" y="2636557"/>
            <a:ext cx="5219703" cy="6444142"/>
            <a:chOff x="8595360" y="1828800"/>
            <a:chExt cx="3131820" cy="4480560"/>
          </a:xfrm>
        </p:grpSpPr>
        <p:sp>
          <p:nvSpPr>
            <p:cNvPr id="40" name="Shape 21"/>
            <p:cNvSpPr/>
            <p:nvPr/>
          </p:nvSpPr>
          <p:spPr>
            <a:xfrm>
              <a:off x="8993170" y="1828800"/>
              <a:ext cx="2573519" cy="4480560"/>
            </a:xfrm>
            <a:prstGeom prst="roundRect">
              <a:avLst>
                <a:gd name="adj" fmla="val 2597"/>
              </a:avLst>
            </a:prstGeom>
            <a:solidFill>
              <a:srgbClr val="106861"/>
            </a:solidFill>
            <a:ln w="12700">
              <a:solidFill>
                <a:srgbClr val="106861"/>
              </a:solidFill>
              <a:prstDash val="solid"/>
            </a:ln>
          </p:spPr>
        </p:sp>
        <p:grpSp>
          <p:nvGrpSpPr>
            <p:cNvPr id="41" name="Group 40"/>
            <p:cNvGrpSpPr/>
            <p:nvPr/>
          </p:nvGrpSpPr>
          <p:grpSpPr>
            <a:xfrm>
              <a:off x="8595360" y="2514600"/>
              <a:ext cx="3108960" cy="749808"/>
              <a:chOff x="8595360" y="2514600"/>
              <a:chExt cx="3108960" cy="749808"/>
            </a:xfrm>
          </p:grpSpPr>
          <p:sp>
            <p:nvSpPr>
              <p:cNvPr id="48" name="Text 23"/>
              <p:cNvSpPr/>
              <p:nvPr/>
            </p:nvSpPr>
            <p:spPr>
              <a:xfrm>
                <a:off x="8595360" y="2514600"/>
                <a:ext cx="3108960" cy="561821"/>
              </a:xfrm>
              <a:prstGeom prst="rect">
                <a:avLst/>
              </a:prstGeom>
              <a:noFill/>
              <a:ln/>
            </p:spPr>
            <p:txBody>
              <a:bodyPr wrap="square" lIns="0" tIns="0" rIns="0" bIns="0" rtlCol="0" anchor="ctr"/>
              <a:lstStyle/>
              <a:p>
                <a:pPr marL="0" indent="0" algn="ctr">
                  <a:buNone/>
                </a:pPr>
                <a:r>
                  <a:rPr lang="en-US" sz="8000" b="1" dirty="0" smtClean="0">
                    <a:solidFill>
                      <a:srgbClr val="FFFFFF"/>
                    </a:solidFill>
                    <a:latin typeface="Calibri" pitchFamily="34" charset="0"/>
                    <a:ea typeface="Calibri" pitchFamily="34" charset="-122"/>
                    <a:cs typeface="Calibri" pitchFamily="34" charset="-120"/>
                  </a:rPr>
                  <a:t>520</a:t>
                </a:r>
                <a:endParaRPr lang="en-US" sz="3000" dirty="0"/>
              </a:p>
            </p:txBody>
          </p:sp>
          <p:sp>
            <p:nvSpPr>
              <p:cNvPr id="49" name="Text 24"/>
              <p:cNvSpPr/>
              <p:nvPr/>
            </p:nvSpPr>
            <p:spPr>
              <a:xfrm>
                <a:off x="8595360" y="2990088"/>
                <a:ext cx="3108960" cy="274320"/>
              </a:xfrm>
              <a:prstGeom prst="rect">
                <a:avLst/>
              </a:prstGeom>
              <a:noFill/>
              <a:ln/>
            </p:spPr>
            <p:txBody>
              <a:bodyPr wrap="square" lIns="0" tIns="0" rIns="0" bIns="0" rtlCol="0" anchor="ctr"/>
              <a:lstStyle/>
              <a:p>
                <a:pPr marL="0" indent="0" algn="ctr">
                  <a:buNone/>
                </a:pPr>
                <a:r>
                  <a:rPr lang="en-US" sz="2000" dirty="0">
                    <a:solidFill>
                      <a:srgbClr val="87D9C4"/>
                    </a:solidFill>
                    <a:latin typeface="Calibri" pitchFamily="34" charset="0"/>
                    <a:ea typeface="Calibri" pitchFamily="34" charset="-122"/>
                    <a:cs typeface="Calibri" pitchFamily="34" charset="-120"/>
                  </a:rPr>
                  <a:t>Total Users</a:t>
                </a:r>
                <a:endParaRPr lang="en-US" sz="2000" dirty="0"/>
              </a:p>
            </p:txBody>
          </p:sp>
        </p:grpSp>
        <p:grpSp>
          <p:nvGrpSpPr>
            <p:cNvPr id="42" name="Group 41"/>
            <p:cNvGrpSpPr/>
            <p:nvPr/>
          </p:nvGrpSpPr>
          <p:grpSpPr>
            <a:xfrm>
              <a:off x="8618220" y="3813048"/>
              <a:ext cx="3108960" cy="749808"/>
              <a:chOff x="8595360" y="3474720"/>
              <a:chExt cx="3108960" cy="749808"/>
            </a:xfrm>
          </p:grpSpPr>
          <p:sp>
            <p:nvSpPr>
              <p:cNvPr id="46" name="Text 25"/>
              <p:cNvSpPr/>
              <p:nvPr/>
            </p:nvSpPr>
            <p:spPr>
              <a:xfrm>
                <a:off x="8595360" y="3474720"/>
                <a:ext cx="3108960" cy="502920"/>
              </a:xfrm>
              <a:prstGeom prst="rect">
                <a:avLst/>
              </a:prstGeom>
              <a:noFill/>
              <a:ln/>
            </p:spPr>
            <p:txBody>
              <a:bodyPr wrap="square" lIns="0" tIns="0" rIns="0" bIns="0" rtlCol="0" anchor="ctr"/>
              <a:lstStyle/>
              <a:p>
                <a:pPr marL="0" indent="0" algn="ctr">
                  <a:buNone/>
                </a:pPr>
                <a:r>
                  <a:rPr lang="en-US" sz="8000" b="1" dirty="0" smtClean="0">
                    <a:solidFill>
                      <a:srgbClr val="FFFFFF"/>
                    </a:solidFill>
                    <a:latin typeface="Calibri" pitchFamily="34" charset="0"/>
                    <a:ea typeface="Calibri" pitchFamily="34" charset="-122"/>
                    <a:cs typeface="Calibri" pitchFamily="34" charset="-120"/>
                  </a:rPr>
                  <a:t>424</a:t>
                </a:r>
                <a:endParaRPr lang="en-US" sz="8000" dirty="0"/>
              </a:p>
            </p:txBody>
          </p:sp>
          <p:sp>
            <p:nvSpPr>
              <p:cNvPr id="47" name="Text 26"/>
              <p:cNvSpPr/>
              <p:nvPr/>
            </p:nvSpPr>
            <p:spPr>
              <a:xfrm>
                <a:off x="8595360" y="3950208"/>
                <a:ext cx="3108960" cy="274320"/>
              </a:xfrm>
              <a:prstGeom prst="rect">
                <a:avLst/>
              </a:prstGeom>
              <a:noFill/>
              <a:ln/>
            </p:spPr>
            <p:txBody>
              <a:bodyPr wrap="square" lIns="0" tIns="0" rIns="0" bIns="0" rtlCol="0" anchor="ctr"/>
              <a:lstStyle/>
              <a:p>
                <a:pPr marL="0" indent="0" algn="ctr">
                  <a:buNone/>
                </a:pPr>
                <a:r>
                  <a:rPr lang="en-US" sz="2000" dirty="0">
                    <a:solidFill>
                      <a:srgbClr val="87D9C4"/>
                    </a:solidFill>
                    <a:latin typeface="Calibri" pitchFamily="34" charset="0"/>
                    <a:ea typeface="Calibri" pitchFamily="34" charset="-122"/>
                    <a:cs typeface="Calibri" pitchFamily="34" charset="-120"/>
                  </a:rPr>
                  <a:t>Free Plan Users</a:t>
                </a:r>
                <a:endParaRPr lang="en-US" sz="2000" dirty="0"/>
              </a:p>
            </p:txBody>
          </p:sp>
        </p:grpSp>
        <p:grpSp>
          <p:nvGrpSpPr>
            <p:cNvPr id="43" name="Group 42"/>
            <p:cNvGrpSpPr/>
            <p:nvPr/>
          </p:nvGrpSpPr>
          <p:grpSpPr>
            <a:xfrm>
              <a:off x="8618220" y="5056632"/>
              <a:ext cx="3108960" cy="749808"/>
              <a:chOff x="8595360" y="4434840"/>
              <a:chExt cx="3108960" cy="749808"/>
            </a:xfrm>
          </p:grpSpPr>
          <p:sp>
            <p:nvSpPr>
              <p:cNvPr id="44" name="Text 27"/>
              <p:cNvSpPr/>
              <p:nvPr/>
            </p:nvSpPr>
            <p:spPr>
              <a:xfrm>
                <a:off x="8595360" y="4434840"/>
                <a:ext cx="3108960" cy="502920"/>
              </a:xfrm>
              <a:prstGeom prst="rect">
                <a:avLst/>
              </a:prstGeom>
              <a:noFill/>
              <a:ln/>
            </p:spPr>
            <p:txBody>
              <a:bodyPr wrap="square" lIns="0" tIns="0" rIns="0" bIns="0" rtlCol="0" anchor="ctr"/>
              <a:lstStyle/>
              <a:p>
                <a:pPr marL="0" indent="0" algn="ctr">
                  <a:buNone/>
                </a:pPr>
                <a:r>
                  <a:rPr lang="en-US" sz="8000" b="1" dirty="0" smtClean="0">
                    <a:solidFill>
                      <a:srgbClr val="FFFFFF"/>
                    </a:solidFill>
                    <a:latin typeface="Calibri" pitchFamily="34" charset="0"/>
                    <a:ea typeface="Calibri" pitchFamily="34" charset="-122"/>
                    <a:cs typeface="Calibri" pitchFamily="34" charset="-120"/>
                  </a:rPr>
                  <a:t>96</a:t>
                </a:r>
                <a:endParaRPr lang="en-US" sz="8000" dirty="0"/>
              </a:p>
            </p:txBody>
          </p:sp>
          <p:sp>
            <p:nvSpPr>
              <p:cNvPr id="45" name="Text 28"/>
              <p:cNvSpPr/>
              <p:nvPr/>
            </p:nvSpPr>
            <p:spPr>
              <a:xfrm>
                <a:off x="8595360" y="4910328"/>
                <a:ext cx="3108960" cy="274320"/>
              </a:xfrm>
              <a:prstGeom prst="rect">
                <a:avLst/>
              </a:prstGeom>
              <a:noFill/>
              <a:ln/>
            </p:spPr>
            <p:txBody>
              <a:bodyPr wrap="square" lIns="0" tIns="0" rIns="0" bIns="0" rtlCol="0" anchor="ctr"/>
              <a:lstStyle/>
              <a:p>
                <a:pPr marL="0" indent="0" algn="ctr">
                  <a:buNone/>
                </a:pPr>
                <a:r>
                  <a:rPr lang="en-US" sz="2000" dirty="0">
                    <a:solidFill>
                      <a:srgbClr val="87D9C4"/>
                    </a:solidFill>
                    <a:latin typeface="Calibri" pitchFamily="34" charset="0"/>
                    <a:ea typeface="Calibri" pitchFamily="34" charset="-122"/>
                    <a:cs typeface="Calibri" pitchFamily="34" charset="-120"/>
                  </a:rPr>
                  <a:t>Premium Users</a:t>
                </a:r>
                <a:endParaRPr lang="en-US" sz="2000" dirty="0"/>
              </a:p>
            </p:txBody>
          </p:sp>
        </p:grpSp>
      </p:grpSp>
    </p:spTree>
    <p:extLst>
      <p:ext uri="{BB962C8B-B14F-4D97-AF65-F5344CB8AC3E}">
        <p14:creationId xmlns:p14="http://schemas.microsoft.com/office/powerpoint/2010/main" val="25920074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43" name="Group 42"/>
          <p:cNvGrpSpPr/>
          <p:nvPr/>
        </p:nvGrpSpPr>
        <p:grpSpPr>
          <a:xfrm>
            <a:off x="685800" y="4148000"/>
            <a:ext cx="17221200" cy="1461366"/>
            <a:chOff x="3223491" y="1191491"/>
            <a:chExt cx="7380599" cy="1435230"/>
          </a:xfrm>
        </p:grpSpPr>
        <p:sp>
          <p:nvSpPr>
            <p:cNvPr id="44" name="Rectangle 43"/>
            <p:cNvSpPr/>
            <p:nvPr/>
          </p:nvSpPr>
          <p:spPr>
            <a:xfrm>
              <a:off x="3334328" y="1288457"/>
              <a:ext cx="7269762" cy="1338264"/>
            </a:xfrm>
            <a:prstGeom prst="rect">
              <a:avLst/>
            </a:prstGeom>
            <a:solidFill>
              <a:srgbClr val="F0EEEF">
                <a:lumMod val="75000"/>
              </a:srgbClr>
            </a:solidFill>
            <a:ln w="12700" cap="flat" cmpd="sng" algn="ctr">
              <a:noFill/>
              <a:prstDash val="solid"/>
              <a:miter lim="800000"/>
            </a:ln>
            <a:effectLst/>
          </p:spPr>
          <p:txBody>
            <a:bodyPr rtlCol="0" anchor="ctr"/>
            <a:lstStyle/>
            <a:p>
              <a:pPr algn="ctr" defTabSz="1371600">
                <a:defRPr/>
              </a:pPr>
              <a:endParaRPr lang="en-US" sz="2700" kern="0">
                <a:solidFill>
                  <a:prstClr val="white"/>
                </a:solidFill>
                <a:latin typeface="Calibri" panose="020F0502020204030204"/>
              </a:endParaRPr>
            </a:p>
          </p:txBody>
        </p:sp>
        <p:grpSp>
          <p:nvGrpSpPr>
            <p:cNvPr id="45" name="Group 44"/>
            <p:cNvGrpSpPr/>
            <p:nvPr/>
          </p:nvGrpSpPr>
          <p:grpSpPr>
            <a:xfrm>
              <a:off x="3223491" y="1191491"/>
              <a:ext cx="7145917" cy="1338265"/>
              <a:chOff x="3925455" y="1191491"/>
              <a:chExt cx="6278351" cy="969819"/>
            </a:xfrm>
          </p:grpSpPr>
          <p:sp>
            <p:nvSpPr>
              <p:cNvPr id="47" name="Rectangle 46"/>
              <p:cNvSpPr/>
              <p:nvPr/>
            </p:nvSpPr>
            <p:spPr>
              <a:xfrm>
                <a:off x="4895271" y="1191491"/>
                <a:ext cx="5308535" cy="950639"/>
              </a:xfrm>
              <a:prstGeom prst="rect">
                <a:avLst/>
              </a:prstGeom>
              <a:solidFill>
                <a:sysClr val="window" lastClr="FFFFFF"/>
              </a:solidFill>
              <a:ln w="12700" cap="flat" cmpd="sng" algn="ctr">
                <a:solidFill>
                  <a:srgbClr val="0D795D"/>
                </a:solidFill>
                <a:prstDash val="solid"/>
                <a:miter lim="800000"/>
              </a:ln>
              <a:effectLst/>
            </p:spPr>
            <p:txBody>
              <a:bodyPr rtlCol="0" anchor="ctr"/>
              <a:lstStyle/>
              <a:p>
                <a:pPr algn="ctr" defTabSz="1371600">
                  <a:defRPr/>
                </a:pPr>
                <a:endParaRPr lang="en-US" sz="2700" kern="0">
                  <a:solidFill>
                    <a:prstClr val="white"/>
                  </a:solidFill>
                  <a:latin typeface="Calibri" panose="020F0502020204030204"/>
                </a:endParaRPr>
              </a:p>
            </p:txBody>
          </p:sp>
          <p:grpSp>
            <p:nvGrpSpPr>
              <p:cNvPr id="48" name="Group 47"/>
              <p:cNvGrpSpPr/>
              <p:nvPr/>
            </p:nvGrpSpPr>
            <p:grpSpPr>
              <a:xfrm>
                <a:off x="3925455" y="1191491"/>
                <a:ext cx="1178646" cy="969819"/>
                <a:chOff x="3925455" y="1191491"/>
                <a:chExt cx="1178646" cy="969819"/>
              </a:xfrm>
            </p:grpSpPr>
            <p:sp>
              <p:nvSpPr>
                <p:cNvPr id="49" name="Rectangle 48"/>
                <p:cNvSpPr/>
                <p:nvPr/>
              </p:nvSpPr>
              <p:spPr>
                <a:xfrm>
                  <a:off x="3925455" y="1191491"/>
                  <a:ext cx="969818" cy="969819"/>
                </a:xfrm>
                <a:prstGeom prst="rect">
                  <a:avLst/>
                </a:prstGeom>
                <a:solidFill>
                  <a:srgbClr val="106861"/>
                </a:solidFill>
                <a:ln w="12700" cap="flat" cmpd="sng" algn="ctr">
                  <a:noFill/>
                  <a:prstDash val="solid"/>
                  <a:miter lim="800000"/>
                </a:ln>
                <a:effectLst/>
              </p:spPr>
              <p:txBody>
                <a:bodyPr rtlCol="0" anchor="ctr"/>
                <a:lstStyle/>
                <a:p>
                  <a:pPr algn="ctr" defTabSz="1371600">
                    <a:defRPr/>
                  </a:pPr>
                  <a:r>
                    <a:rPr lang="en-US" sz="3600" b="1" kern="0" dirty="0" smtClean="0">
                      <a:solidFill>
                        <a:srgbClr val="FFFFFF"/>
                      </a:solidFill>
                      <a:effectLst>
                        <a:outerShdw blurRad="38100" dist="38100" dir="2700000" algn="tl">
                          <a:srgbClr val="000000">
                            <a:alpha val="43137"/>
                          </a:srgbClr>
                        </a:outerShdw>
                      </a:effectLst>
                      <a:latin typeface="Calibri" panose="020F0502020204030204"/>
                    </a:rPr>
                    <a:t>Explanation</a:t>
                  </a:r>
                  <a:endParaRPr lang="en-US" sz="4800" b="1" kern="0" dirty="0">
                    <a:solidFill>
                      <a:srgbClr val="FFFFFF"/>
                    </a:solidFill>
                    <a:effectLst>
                      <a:outerShdw blurRad="38100" dist="38100" dir="2700000" algn="tl">
                        <a:srgbClr val="000000">
                          <a:alpha val="43137"/>
                        </a:srgbClr>
                      </a:outerShdw>
                    </a:effectLst>
                    <a:latin typeface="Calibri" panose="020F0502020204030204"/>
                  </a:endParaRPr>
                </a:p>
              </p:txBody>
            </p:sp>
            <p:sp>
              <p:nvSpPr>
                <p:cNvPr id="50" name="Isosceles Triangle 49"/>
                <p:cNvSpPr/>
                <p:nvPr/>
              </p:nvSpPr>
              <p:spPr>
                <a:xfrm rot="5400000">
                  <a:off x="4803124" y="1537059"/>
                  <a:ext cx="323272" cy="278683"/>
                </a:xfrm>
                <a:prstGeom prst="triangle">
                  <a:avLst/>
                </a:prstGeom>
                <a:solidFill>
                  <a:srgbClr val="106861"/>
                </a:solidFill>
                <a:ln w="12700" cap="flat" cmpd="sng" algn="ctr">
                  <a:noFill/>
                  <a:prstDash val="solid"/>
                  <a:miter lim="800000"/>
                </a:ln>
                <a:effectLst/>
              </p:spPr>
              <p:txBody>
                <a:bodyPr rtlCol="0" anchor="ctr"/>
                <a:lstStyle/>
                <a:p>
                  <a:pPr algn="ctr" defTabSz="1371600">
                    <a:defRPr/>
                  </a:pPr>
                  <a:endParaRPr lang="en-US" sz="2700" kern="0">
                    <a:solidFill>
                      <a:prstClr val="white"/>
                    </a:solidFill>
                    <a:latin typeface="Calibri" panose="020F0502020204030204"/>
                  </a:endParaRPr>
                </a:p>
              </p:txBody>
            </p:sp>
          </p:grpSp>
        </p:grpSp>
        <p:sp>
          <p:nvSpPr>
            <p:cNvPr id="46" name="TextBox 59"/>
            <p:cNvSpPr txBox="1"/>
            <p:nvPr/>
          </p:nvSpPr>
          <p:spPr>
            <a:xfrm>
              <a:off x="4565008" y="1368462"/>
              <a:ext cx="5458779" cy="1057952"/>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dirty="0">
                  <a:solidFill>
                    <a:srgbClr val="0B4541"/>
                  </a:solidFill>
                  <a:latin typeface="Consolas" pitchFamily="34" charset="0"/>
                  <a:ea typeface="Consolas" pitchFamily="34" charset="-122"/>
                  <a:cs typeface="Consolas" pitchFamily="34" charset="-120"/>
                </a:rPr>
                <a:t>isna().sum</a:t>
              </a:r>
              <a:r>
                <a:rPr lang="en-US" sz="3200" dirty="0" smtClean="0">
                  <a:solidFill>
                    <a:srgbClr val="0B4541"/>
                  </a:solidFill>
                  <a:latin typeface="Consolas" pitchFamily="34" charset="0"/>
                  <a:ea typeface="Consolas" pitchFamily="34" charset="-122"/>
                  <a:cs typeface="Consolas" pitchFamily="34" charset="-120"/>
                </a:rPr>
                <a:t>() is the method that was used to check for missing values.</a:t>
              </a:r>
              <a:endParaRPr lang="en-US" sz="2800" dirty="0">
                <a:solidFill>
                  <a:srgbClr val="0B4541"/>
                </a:solidFill>
                <a:latin typeface="Arial Rounded MT Bold" panose="020F0704030504030204" pitchFamily="34" charset="0"/>
              </a:endParaRPr>
            </a:p>
          </p:txBody>
        </p:sp>
      </p:grpSp>
      <p:sp>
        <p:nvSpPr>
          <p:cNvPr id="109" name="TextBox 108"/>
          <p:cNvSpPr txBox="1"/>
          <p:nvPr/>
        </p:nvSpPr>
        <p:spPr>
          <a:xfrm>
            <a:off x="5029200" y="242116"/>
            <a:ext cx="10807839" cy="1116111"/>
          </a:xfrm>
          <a:prstGeom prst="rect">
            <a:avLst/>
          </a:prstGeom>
          <a:noFill/>
        </p:spPr>
        <p:txBody>
          <a:bodyPr wrap="square" rtlCol="0">
            <a:noAutofit/>
          </a:bodyPr>
          <a:lstStyle/>
          <a:p>
            <a:r>
              <a:rPr lang="en-US" sz="7200" b="1" dirty="0" smtClean="0">
                <a:solidFill>
                  <a:srgbClr val="0E3E35"/>
                </a:solidFill>
                <a:ea typeface="Calibri" panose="020F0502020204030204" pitchFamily="34" charset="0"/>
                <a:cs typeface="Calibri" panose="020F0502020204030204" pitchFamily="34" charset="0"/>
              </a:rPr>
              <a:t>DATA CLEANING</a:t>
            </a:r>
            <a:endParaRPr lang="en-US" sz="7200" b="1" dirty="0">
              <a:solidFill>
                <a:srgbClr val="0E3E35"/>
              </a:solidFill>
              <a:ea typeface="Calibri" panose="020F0502020204030204" pitchFamily="34" charset="0"/>
              <a:cs typeface="Calibri" panose="020F0502020204030204" pitchFamily="34" charset="0"/>
            </a:endParaRPr>
          </a:p>
        </p:txBody>
      </p:sp>
      <p:sp>
        <p:nvSpPr>
          <p:cNvPr id="90" name="Rectangle 89"/>
          <p:cNvSpPr/>
          <p:nvPr/>
        </p:nvSpPr>
        <p:spPr>
          <a:xfrm>
            <a:off x="912333" y="8595032"/>
            <a:ext cx="16962583" cy="1362634"/>
          </a:xfrm>
          <a:prstGeom prst="rect">
            <a:avLst/>
          </a:prstGeom>
          <a:solidFill>
            <a:srgbClr val="F0EEEF">
              <a:lumMod val="75000"/>
            </a:srgbClr>
          </a:solidFill>
          <a:ln w="12700" cap="flat" cmpd="sng" algn="ctr">
            <a:noFill/>
            <a:prstDash val="solid"/>
            <a:miter lim="800000"/>
          </a:ln>
          <a:effectLst/>
        </p:spPr>
        <p:txBody>
          <a:bodyPr rtlCol="0" anchor="ctr"/>
          <a:lstStyle/>
          <a:p>
            <a:pPr algn="ctr" defTabSz="1371600">
              <a:defRPr/>
            </a:pPr>
            <a:endParaRPr lang="en-US" sz="2700" kern="0">
              <a:solidFill>
                <a:prstClr val="white"/>
              </a:solidFill>
              <a:latin typeface="Calibri" panose="020F0502020204030204"/>
            </a:endParaRPr>
          </a:p>
        </p:txBody>
      </p:sp>
      <p:sp>
        <p:nvSpPr>
          <p:cNvPr id="93" name="Rectangle 92"/>
          <p:cNvSpPr/>
          <p:nvPr/>
        </p:nvSpPr>
        <p:spPr>
          <a:xfrm>
            <a:off x="3229287" y="8496300"/>
            <a:ext cx="14098044" cy="1335686"/>
          </a:xfrm>
          <a:prstGeom prst="rect">
            <a:avLst/>
          </a:prstGeom>
          <a:solidFill>
            <a:sysClr val="window" lastClr="FFFFFF"/>
          </a:solidFill>
          <a:ln w="12700" cap="flat" cmpd="sng" algn="ctr">
            <a:solidFill>
              <a:srgbClr val="0D795D"/>
            </a:solidFill>
            <a:prstDash val="solid"/>
            <a:miter lim="800000"/>
          </a:ln>
          <a:effectLst/>
        </p:spPr>
        <p:txBody>
          <a:bodyPr rtlCol="0" anchor="ctr"/>
          <a:lstStyle/>
          <a:p>
            <a:pPr algn="ctr" defTabSz="1371600">
              <a:defRPr/>
            </a:pPr>
            <a:endParaRPr lang="en-US" sz="2700" kern="0">
              <a:solidFill>
                <a:prstClr val="white"/>
              </a:solidFill>
              <a:latin typeface="Calibri" panose="020F0502020204030204"/>
            </a:endParaRPr>
          </a:p>
        </p:txBody>
      </p:sp>
      <p:grpSp>
        <p:nvGrpSpPr>
          <p:cNvPr id="94" name="Group 93"/>
          <p:cNvGrpSpPr/>
          <p:nvPr/>
        </p:nvGrpSpPr>
        <p:grpSpPr>
          <a:xfrm>
            <a:off x="653716" y="8496300"/>
            <a:ext cx="3130167" cy="1362635"/>
            <a:chOff x="3925455" y="1191491"/>
            <a:chExt cx="1178646" cy="969819"/>
          </a:xfrm>
        </p:grpSpPr>
        <p:sp>
          <p:nvSpPr>
            <p:cNvPr id="95" name="Rectangle 94"/>
            <p:cNvSpPr/>
            <p:nvPr/>
          </p:nvSpPr>
          <p:spPr>
            <a:xfrm>
              <a:off x="3925455" y="1191491"/>
              <a:ext cx="969818" cy="969819"/>
            </a:xfrm>
            <a:prstGeom prst="rect">
              <a:avLst/>
            </a:prstGeom>
            <a:solidFill>
              <a:srgbClr val="106861"/>
            </a:solidFill>
            <a:ln w="12700" cap="flat" cmpd="sng" algn="ctr">
              <a:noFill/>
              <a:prstDash val="solid"/>
              <a:miter lim="800000"/>
            </a:ln>
            <a:effectLst/>
          </p:spPr>
          <p:txBody>
            <a:bodyPr rtlCol="0" anchor="ctr"/>
            <a:lstStyle/>
            <a:p>
              <a:pPr algn="ctr" defTabSz="1371600">
                <a:defRPr/>
              </a:pPr>
              <a:r>
                <a:rPr lang="en-US" sz="3600" b="1" kern="0" dirty="0" smtClean="0">
                  <a:solidFill>
                    <a:srgbClr val="FFFFFF"/>
                  </a:solidFill>
                  <a:effectLst>
                    <a:outerShdw blurRad="38100" dist="38100" dir="2700000" algn="tl">
                      <a:srgbClr val="000000">
                        <a:alpha val="43137"/>
                      </a:srgbClr>
                    </a:outerShdw>
                  </a:effectLst>
                  <a:latin typeface="Calibri" panose="020F0502020204030204"/>
                </a:rPr>
                <a:t>Explanation</a:t>
              </a:r>
              <a:endParaRPr lang="en-US" sz="4800" b="1" kern="0" dirty="0">
                <a:solidFill>
                  <a:srgbClr val="FFFFFF"/>
                </a:solidFill>
                <a:effectLst>
                  <a:outerShdw blurRad="38100" dist="38100" dir="2700000" algn="tl">
                    <a:srgbClr val="000000">
                      <a:alpha val="43137"/>
                    </a:srgbClr>
                  </a:outerShdw>
                </a:effectLst>
                <a:latin typeface="Calibri" panose="020F0502020204030204"/>
              </a:endParaRPr>
            </a:p>
          </p:txBody>
        </p:sp>
        <p:sp>
          <p:nvSpPr>
            <p:cNvPr id="96" name="Isosceles Triangle 95"/>
            <p:cNvSpPr/>
            <p:nvPr/>
          </p:nvSpPr>
          <p:spPr>
            <a:xfrm rot="5400000">
              <a:off x="4803124" y="1537059"/>
              <a:ext cx="323272" cy="278683"/>
            </a:xfrm>
            <a:prstGeom prst="triangle">
              <a:avLst/>
            </a:prstGeom>
            <a:solidFill>
              <a:srgbClr val="106861"/>
            </a:solidFill>
            <a:ln w="12700" cap="flat" cmpd="sng" algn="ctr">
              <a:noFill/>
              <a:prstDash val="solid"/>
              <a:miter lim="800000"/>
            </a:ln>
            <a:effectLst/>
          </p:spPr>
          <p:txBody>
            <a:bodyPr rtlCol="0" anchor="ctr"/>
            <a:lstStyle/>
            <a:p>
              <a:pPr algn="ctr" defTabSz="1371600">
                <a:defRPr/>
              </a:pPr>
              <a:endParaRPr lang="en-US" sz="2700" kern="0">
                <a:solidFill>
                  <a:prstClr val="white"/>
                </a:solidFill>
                <a:latin typeface="Calibri" panose="020F0502020204030204"/>
              </a:endParaRPr>
            </a:p>
          </p:txBody>
        </p:sp>
      </p:grpSp>
      <p:sp>
        <p:nvSpPr>
          <p:cNvPr id="92" name="TextBox 59"/>
          <p:cNvSpPr txBox="1"/>
          <p:nvPr/>
        </p:nvSpPr>
        <p:spPr>
          <a:xfrm>
            <a:off x="3657600" y="8676184"/>
            <a:ext cx="13669731" cy="1077218"/>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3200" dirty="0" smtClean="0">
                <a:latin typeface="Consolas" panose="020B0609020204030204" pitchFamily="49" charset="0"/>
              </a:rPr>
              <a:t>Thi</a:t>
            </a:r>
            <a:r>
              <a:rPr lang="en-US" sz="3200" dirty="0" smtClean="0">
                <a:latin typeface="Consolas" panose="020B0609020204030204" pitchFamily="49" charset="0"/>
              </a:rPr>
              <a:t>s code specifies creates a custom list of what constitutes as missing values and purposefully excludes the word ‘None’.</a:t>
            </a:r>
            <a:endParaRPr lang="en-US" sz="3200" dirty="0">
              <a:solidFill>
                <a:srgbClr val="0B4541"/>
              </a:solidFill>
              <a:latin typeface="Consolas" panose="020B0609020204030204" pitchFamily="49" charset="0"/>
            </a:endParaRPr>
          </a:p>
        </p:txBody>
      </p:sp>
      <p:pic>
        <p:nvPicPr>
          <p:cNvPr id="2" name="Picture 1"/>
          <p:cNvPicPr>
            <a:picLocks noChangeAspect="1"/>
          </p:cNvPicPr>
          <p:nvPr/>
        </p:nvPicPr>
        <p:blipFill>
          <a:blip r:embed="rId2"/>
          <a:stretch>
            <a:fillRect/>
          </a:stretch>
        </p:blipFill>
        <p:spPr>
          <a:xfrm>
            <a:off x="685800" y="1728747"/>
            <a:ext cx="16725295" cy="2048733"/>
          </a:xfrm>
          <a:prstGeom prst="rect">
            <a:avLst/>
          </a:prstGeom>
        </p:spPr>
      </p:pic>
      <p:sp>
        <p:nvSpPr>
          <p:cNvPr id="97" name="Shape 3"/>
          <p:cNvSpPr/>
          <p:nvPr/>
        </p:nvSpPr>
        <p:spPr>
          <a:xfrm>
            <a:off x="4648200" y="1350672"/>
            <a:ext cx="7036759" cy="146456"/>
          </a:xfrm>
          <a:prstGeom prst="rect">
            <a:avLst/>
          </a:prstGeom>
          <a:solidFill>
            <a:srgbClr val="1A7060"/>
          </a:solidFill>
          <a:ln w="12700">
            <a:solidFill>
              <a:srgbClr val="87D9C4"/>
            </a:solidFill>
            <a:prstDash val="solid"/>
          </a:ln>
        </p:spPr>
      </p:sp>
      <p:pic>
        <p:nvPicPr>
          <p:cNvPr id="4" name="Picture 3"/>
          <p:cNvPicPr>
            <a:picLocks noChangeAspect="1"/>
          </p:cNvPicPr>
          <p:nvPr/>
        </p:nvPicPr>
        <p:blipFill>
          <a:blip r:embed="rId3"/>
          <a:stretch>
            <a:fillRect/>
          </a:stretch>
        </p:blipFill>
        <p:spPr>
          <a:xfrm>
            <a:off x="685799" y="6362701"/>
            <a:ext cx="16725295" cy="1516430"/>
          </a:xfrm>
          <a:prstGeom prst="rect">
            <a:avLst/>
          </a:prstGeom>
        </p:spPr>
      </p:pic>
    </p:spTree>
    <p:extLst>
      <p:ext uri="{BB962C8B-B14F-4D97-AF65-F5344CB8AC3E}">
        <p14:creationId xmlns:p14="http://schemas.microsoft.com/office/powerpoint/2010/main" val="9805873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480060" cy="10287000"/>
          </a:xfrm>
          <a:prstGeom prst="rect">
            <a:avLst/>
          </a:prstGeom>
          <a:solidFill>
            <a:srgbClr val="106861"/>
          </a:solidFill>
          <a:ln w="12700">
            <a:solidFill>
              <a:srgbClr val="106861"/>
            </a:solidFill>
            <a:prstDash val="solid"/>
          </a:ln>
        </p:spPr>
      </p:sp>
      <p:sp>
        <p:nvSpPr>
          <p:cNvPr id="3" name="Text 1"/>
          <p:cNvSpPr/>
          <p:nvPr/>
        </p:nvSpPr>
        <p:spPr>
          <a:xfrm>
            <a:off x="3657600" y="510363"/>
            <a:ext cx="17145000" cy="960120"/>
          </a:xfrm>
          <a:prstGeom prst="rect">
            <a:avLst/>
          </a:prstGeom>
          <a:noFill/>
          <a:ln/>
        </p:spPr>
        <p:txBody>
          <a:bodyPr wrap="square" lIns="0" tIns="0" rIns="0" bIns="0" rtlCol="0" anchor="ctr"/>
          <a:lstStyle/>
          <a:p>
            <a:r>
              <a:rPr lang="en-US" sz="7200" b="1" dirty="0" smtClean="0">
                <a:solidFill>
                  <a:srgbClr val="0C322B"/>
                </a:solidFill>
                <a:latin typeface="Calibri" pitchFamily="34" charset="0"/>
                <a:ea typeface="Calibri" pitchFamily="34" charset="-122"/>
                <a:cs typeface="Calibri" pitchFamily="34" charset="-120"/>
              </a:rPr>
              <a:t>FINDINGS AND VISUAL METRICS</a:t>
            </a:r>
            <a:endParaRPr lang="en-US" sz="7200" dirty="0">
              <a:solidFill>
                <a:srgbClr val="0C322B"/>
              </a:solidFill>
            </a:endParaRPr>
          </a:p>
        </p:txBody>
      </p:sp>
      <p:sp>
        <p:nvSpPr>
          <p:cNvPr id="4" name="Text 2"/>
          <p:cNvSpPr/>
          <p:nvPr/>
        </p:nvSpPr>
        <p:spPr>
          <a:xfrm>
            <a:off x="685800" y="1371600"/>
            <a:ext cx="17145000" cy="480060"/>
          </a:xfrm>
          <a:prstGeom prst="rect">
            <a:avLst/>
          </a:prstGeom>
          <a:noFill/>
          <a:ln/>
        </p:spPr>
        <p:txBody>
          <a:bodyPr wrap="square" lIns="0" tIns="0" rIns="0" bIns="0" rtlCol="0" anchor="ctr"/>
          <a:lstStyle/>
          <a:p>
            <a:endParaRPr lang="en-US" sz="2100" dirty="0"/>
          </a:p>
        </p:txBody>
      </p:sp>
      <p:sp>
        <p:nvSpPr>
          <p:cNvPr id="5" name="Shape 3"/>
          <p:cNvSpPr/>
          <p:nvPr/>
        </p:nvSpPr>
        <p:spPr>
          <a:xfrm flipV="1">
            <a:off x="3276600" y="1370912"/>
            <a:ext cx="13030200" cy="156334"/>
          </a:xfrm>
          <a:prstGeom prst="rect">
            <a:avLst/>
          </a:prstGeom>
          <a:solidFill>
            <a:srgbClr val="1A7060"/>
          </a:solidFill>
          <a:ln w="12700">
            <a:solidFill>
              <a:srgbClr val="87D9C4"/>
            </a:solidFill>
            <a:prstDash val="solid"/>
          </a:ln>
        </p:spPr>
      </p:sp>
      <p:pic>
        <p:nvPicPr>
          <p:cNvPr id="6" name="Image 0" descr="/home/claude/spotify_green.png"/>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7213580" y="246888"/>
            <a:ext cx="685800" cy="685800"/>
          </a:xfrm>
          <a:prstGeom prst="rect">
            <a:avLst/>
          </a:prstGeom>
        </p:spPr>
      </p:pic>
      <p:pic>
        <p:nvPicPr>
          <p:cNvPr id="7" name="Image 1" descr="/home/claude/spotify_subscription_plot.png"/>
          <p:cNvPicPr>
            <a:picLocks noChangeAspect="1"/>
          </p:cNvPicPr>
          <p:nvPr/>
        </p:nvPicPr>
        <p:blipFill rotWithShape="1">
          <a:blip r:embed="rId5"/>
          <a:srcRect l="2613" r="7890"/>
          <a:stretch/>
        </p:blipFill>
        <p:spPr>
          <a:xfrm>
            <a:off x="565273" y="1582964"/>
            <a:ext cx="9198575" cy="6224165"/>
          </a:xfrm>
          <a:prstGeom prst="rect">
            <a:avLst/>
          </a:prstGeom>
        </p:spPr>
      </p:pic>
      <p:sp>
        <p:nvSpPr>
          <p:cNvPr id="11" name="Text 6"/>
          <p:cNvSpPr/>
          <p:nvPr/>
        </p:nvSpPr>
        <p:spPr>
          <a:xfrm>
            <a:off x="685800" y="8019180"/>
            <a:ext cx="17145000" cy="2125980"/>
          </a:xfrm>
          <a:prstGeom prst="rect">
            <a:avLst/>
          </a:prstGeom>
          <a:noFill/>
          <a:ln/>
        </p:spPr>
        <p:txBody>
          <a:bodyPr wrap="square" rtlCol="0" anchor="ctr"/>
          <a:lstStyle/>
          <a:p>
            <a:pPr marL="514350" indent="-514350">
              <a:buSzPct val="100000"/>
              <a:buChar char="•"/>
            </a:pPr>
            <a:r>
              <a:rPr lang="en-US" sz="3000" dirty="0">
                <a:solidFill>
                  <a:srgbClr val="333231"/>
                </a:solidFill>
                <a:latin typeface="Calibri" pitchFamily="34" charset="0"/>
                <a:ea typeface="Calibri" pitchFamily="34" charset="-122"/>
                <a:cs typeface="Calibri" pitchFamily="34" charset="-120"/>
              </a:rPr>
              <a:t>Free (ad-supported)  users dominate the platform making up approximately 420 users compared to the premium (paid subscription) users who make up approximately 95 users.</a:t>
            </a:r>
          </a:p>
          <a:p>
            <a:pPr marL="514350" indent="-514350">
              <a:buSzPct val="100000"/>
              <a:buChar char="•"/>
            </a:pPr>
            <a:endParaRPr lang="en-US" sz="3000" dirty="0"/>
          </a:p>
          <a:p>
            <a:pPr marL="514350" indent="-514350">
              <a:buSzPct val="100000"/>
              <a:buChar char="•"/>
            </a:pPr>
            <a:r>
              <a:rPr lang="en-US" sz="3000" dirty="0">
                <a:solidFill>
                  <a:srgbClr val="333231"/>
                </a:solidFill>
                <a:latin typeface="Calibri" pitchFamily="34" charset="0"/>
                <a:ea typeface="Calibri" pitchFamily="34" charset="-122"/>
                <a:cs typeface="Calibri" pitchFamily="34" charset="-120"/>
              </a:rPr>
              <a:t>Melody is the most listened to music genre amongst Spotify users.</a:t>
            </a:r>
            <a:endParaRPr lang="en-US" sz="3000" dirty="0"/>
          </a:p>
        </p:txBody>
      </p:sp>
      <p:pic>
        <p:nvPicPr>
          <p:cNvPr id="12" name="Picture 11"/>
          <p:cNvPicPr>
            <a:picLocks noChangeAspect="1"/>
          </p:cNvPicPr>
          <p:nvPr/>
        </p:nvPicPr>
        <p:blipFill rotWithShape="1">
          <a:blip r:embed="rId6"/>
          <a:srcRect l="1740" t="2813" r="8394"/>
          <a:stretch/>
        </p:blipFill>
        <p:spPr>
          <a:xfrm>
            <a:off x="10054430" y="1687570"/>
            <a:ext cx="7642073" cy="6198464"/>
          </a:xfrm>
          <a:prstGeom prst="rect">
            <a:avLst/>
          </a:prstGeom>
        </p:spPr>
      </p:pic>
      <p:sp>
        <p:nvSpPr>
          <p:cNvPr id="13" name="Rounded Rectangle 12"/>
          <p:cNvSpPr/>
          <p:nvPr/>
        </p:nvSpPr>
        <p:spPr>
          <a:xfrm>
            <a:off x="685800" y="8068233"/>
            <a:ext cx="17145000" cy="2027874"/>
          </a:xfrm>
          <a:prstGeom prst="roundRect">
            <a:avLst/>
          </a:prstGeom>
          <a:noFill/>
          <a:ln>
            <a:solidFill>
              <a:srgbClr val="1A7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en-GB" sz="2700"/>
          </a:p>
        </p:txBody>
      </p:sp>
    </p:spTree>
    <p:extLst>
      <p:ext uri="{BB962C8B-B14F-4D97-AF65-F5344CB8AC3E}">
        <p14:creationId xmlns:p14="http://schemas.microsoft.com/office/powerpoint/2010/main" val="4328868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480060" cy="10287000"/>
          </a:xfrm>
          <a:prstGeom prst="rect">
            <a:avLst/>
          </a:prstGeom>
          <a:solidFill>
            <a:srgbClr val="106861"/>
          </a:solidFill>
          <a:ln w="12700">
            <a:solidFill>
              <a:srgbClr val="106861"/>
            </a:solidFill>
            <a:prstDash val="solid"/>
          </a:ln>
        </p:spPr>
      </p:sp>
      <p:sp>
        <p:nvSpPr>
          <p:cNvPr id="3" name="Text 1"/>
          <p:cNvSpPr/>
          <p:nvPr/>
        </p:nvSpPr>
        <p:spPr>
          <a:xfrm>
            <a:off x="6781800" y="123444"/>
            <a:ext cx="3733800" cy="960120"/>
          </a:xfrm>
          <a:prstGeom prst="rect">
            <a:avLst/>
          </a:prstGeom>
          <a:noFill/>
          <a:ln/>
        </p:spPr>
        <p:txBody>
          <a:bodyPr wrap="square" lIns="0" tIns="0" rIns="0" bIns="0" rtlCol="0" anchor="ctr"/>
          <a:lstStyle/>
          <a:p>
            <a:r>
              <a:rPr lang="en-US" sz="7200" b="1" dirty="0" smtClean="0">
                <a:solidFill>
                  <a:srgbClr val="0B4541"/>
                </a:solidFill>
                <a:latin typeface="Calibri" pitchFamily="34" charset="0"/>
                <a:ea typeface="Calibri" pitchFamily="34" charset="-122"/>
                <a:cs typeface="Calibri" pitchFamily="34" charset="-120"/>
              </a:rPr>
              <a:t>MODEL</a:t>
            </a:r>
            <a:endParaRPr lang="en-US" sz="7200" dirty="0">
              <a:solidFill>
                <a:srgbClr val="0B4541"/>
              </a:solidFill>
            </a:endParaRPr>
          </a:p>
        </p:txBody>
      </p:sp>
      <p:sp>
        <p:nvSpPr>
          <p:cNvPr id="4" name="Text 2"/>
          <p:cNvSpPr/>
          <p:nvPr/>
        </p:nvSpPr>
        <p:spPr>
          <a:xfrm>
            <a:off x="685800" y="1371600"/>
            <a:ext cx="17145000" cy="480060"/>
          </a:xfrm>
          <a:prstGeom prst="rect">
            <a:avLst/>
          </a:prstGeom>
          <a:noFill/>
          <a:ln/>
        </p:spPr>
        <p:txBody>
          <a:bodyPr wrap="square" lIns="0" tIns="0" rIns="0" bIns="0" rtlCol="0" anchor="ctr"/>
          <a:lstStyle/>
          <a:p>
            <a:r>
              <a:rPr lang="en-US" sz="2100" dirty="0">
                <a:solidFill>
                  <a:srgbClr val="64748B"/>
                </a:solidFill>
                <a:latin typeface="Calibri" pitchFamily="34" charset="0"/>
                <a:ea typeface="Calibri" pitchFamily="34" charset="-122"/>
                <a:cs typeface="Calibri" pitchFamily="34" charset="-120"/>
              </a:rPr>
              <a:t>The model used in this project is Logistic Regression</a:t>
            </a:r>
            <a:endParaRPr lang="en-US" sz="2100" dirty="0"/>
          </a:p>
        </p:txBody>
      </p:sp>
      <p:sp>
        <p:nvSpPr>
          <p:cNvPr id="5" name="Shape 3"/>
          <p:cNvSpPr/>
          <p:nvPr/>
        </p:nvSpPr>
        <p:spPr>
          <a:xfrm>
            <a:off x="685800" y="1851660"/>
            <a:ext cx="17145000" cy="54864"/>
          </a:xfrm>
          <a:prstGeom prst="rect">
            <a:avLst/>
          </a:prstGeom>
          <a:solidFill>
            <a:srgbClr val="1A7060"/>
          </a:solidFill>
          <a:ln w="12700">
            <a:solidFill>
              <a:srgbClr val="87D9C4"/>
            </a:solidFill>
            <a:prstDash val="solid"/>
          </a:ln>
        </p:spPr>
      </p:sp>
      <p:pic>
        <p:nvPicPr>
          <p:cNvPr id="6" name="Image 0" descr="/home/claude/spotify_green.png"/>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6814449" y="288561"/>
            <a:ext cx="685800" cy="685800"/>
          </a:xfrm>
          <a:prstGeom prst="rect">
            <a:avLst/>
          </a:prstGeom>
        </p:spPr>
      </p:pic>
      <p:sp>
        <p:nvSpPr>
          <p:cNvPr id="7" name="Shape 4"/>
          <p:cNvSpPr/>
          <p:nvPr/>
        </p:nvSpPr>
        <p:spPr>
          <a:xfrm>
            <a:off x="685800" y="2194560"/>
            <a:ext cx="10527384" cy="7475220"/>
          </a:xfrm>
          <a:prstGeom prst="roundRect">
            <a:avLst>
              <a:gd name="adj" fmla="val 1468"/>
            </a:avLst>
          </a:prstGeom>
          <a:solidFill>
            <a:srgbClr val="FFFFFF"/>
          </a:solidFill>
          <a:ln/>
          <a:effectLst>
            <a:outerShdw blurRad="101600" dist="25400" dir="2700000" algn="bl" rotWithShape="0">
              <a:srgbClr val="000000">
                <a:alpha val="10000"/>
              </a:srgbClr>
            </a:outerShdw>
          </a:effectLst>
        </p:spPr>
      </p:sp>
      <p:sp>
        <p:nvSpPr>
          <p:cNvPr id="10" name="Text 7"/>
          <p:cNvSpPr/>
          <p:nvPr/>
        </p:nvSpPr>
        <p:spPr>
          <a:xfrm>
            <a:off x="891540" y="3058668"/>
            <a:ext cx="438912" cy="438912"/>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4" name="Text 11"/>
          <p:cNvSpPr/>
          <p:nvPr/>
        </p:nvSpPr>
        <p:spPr>
          <a:xfrm>
            <a:off x="891540" y="4155948"/>
            <a:ext cx="438912" cy="438912"/>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8" name="Text 15"/>
          <p:cNvSpPr/>
          <p:nvPr/>
        </p:nvSpPr>
        <p:spPr>
          <a:xfrm>
            <a:off x="891540" y="5253228"/>
            <a:ext cx="438912" cy="438912"/>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22" name="Text 19"/>
          <p:cNvSpPr/>
          <p:nvPr/>
        </p:nvSpPr>
        <p:spPr>
          <a:xfrm>
            <a:off x="891540" y="6350508"/>
            <a:ext cx="438912" cy="438912"/>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6" name="Text 23"/>
          <p:cNvSpPr/>
          <p:nvPr/>
        </p:nvSpPr>
        <p:spPr>
          <a:xfrm>
            <a:off x="891540" y="7447788"/>
            <a:ext cx="438912" cy="438912"/>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30" name="Text 27"/>
          <p:cNvSpPr/>
          <p:nvPr/>
        </p:nvSpPr>
        <p:spPr>
          <a:xfrm>
            <a:off x="891540" y="8545068"/>
            <a:ext cx="438912" cy="438912"/>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6</a:t>
            </a:r>
            <a:endParaRPr lang="en-US" sz="1350" dirty="0"/>
          </a:p>
        </p:txBody>
      </p:sp>
      <p:sp>
        <p:nvSpPr>
          <p:cNvPr id="8" name="Text 5"/>
          <p:cNvSpPr/>
          <p:nvPr/>
        </p:nvSpPr>
        <p:spPr>
          <a:xfrm>
            <a:off x="981131" y="2424197"/>
            <a:ext cx="10034090" cy="521208"/>
          </a:xfrm>
          <a:prstGeom prst="rect">
            <a:avLst/>
          </a:prstGeom>
          <a:noFill/>
          <a:ln/>
        </p:spPr>
        <p:txBody>
          <a:bodyPr wrap="square" lIns="0" tIns="0" rIns="0" bIns="0" rtlCol="0" anchor="ctr"/>
          <a:lstStyle/>
          <a:p>
            <a:r>
              <a:rPr lang="en-US" sz="2100" b="1" dirty="0">
                <a:solidFill>
                  <a:srgbClr val="106861"/>
                </a:solidFill>
                <a:latin typeface="Calibri" pitchFamily="34" charset="0"/>
                <a:ea typeface="Calibri" pitchFamily="34" charset="-122"/>
                <a:cs typeface="Calibri" pitchFamily="34" charset="-120"/>
              </a:rPr>
              <a:t>Steps</a:t>
            </a:r>
            <a:endParaRPr lang="en-US" sz="2100" dirty="0"/>
          </a:p>
        </p:txBody>
      </p:sp>
      <p:sp>
        <p:nvSpPr>
          <p:cNvPr id="11" name="Text 8"/>
          <p:cNvSpPr/>
          <p:nvPr/>
        </p:nvSpPr>
        <p:spPr>
          <a:xfrm>
            <a:off x="1697852" y="3031236"/>
            <a:ext cx="9317369" cy="384048"/>
          </a:xfrm>
          <a:prstGeom prst="rect">
            <a:avLst/>
          </a:prstGeom>
          <a:noFill/>
          <a:ln/>
        </p:spPr>
        <p:txBody>
          <a:bodyPr wrap="square" lIns="0" tIns="0" rIns="0" bIns="0" rtlCol="0" anchor="ctr"/>
          <a:lstStyle/>
          <a:p>
            <a:r>
              <a:rPr lang="en-US" sz="2400" b="1" dirty="0">
                <a:solidFill>
                  <a:srgbClr val="106861"/>
                </a:solidFill>
                <a:latin typeface="Calibri" pitchFamily="34" charset="0"/>
                <a:ea typeface="Calibri" pitchFamily="34" charset="-122"/>
                <a:cs typeface="Calibri" pitchFamily="34" charset="-120"/>
              </a:rPr>
              <a:t>Features </a:t>
            </a:r>
            <a:r>
              <a:rPr lang="en-US" sz="2400" b="1" dirty="0" smtClean="0">
                <a:solidFill>
                  <a:srgbClr val="106861"/>
                </a:solidFill>
                <a:latin typeface="Calibri" pitchFamily="34" charset="0"/>
                <a:ea typeface="Calibri" pitchFamily="34" charset="-122"/>
                <a:cs typeface="Calibri" pitchFamily="34" charset="-120"/>
              </a:rPr>
              <a:t>(X)</a:t>
            </a:r>
            <a:endParaRPr lang="en-US" sz="2400" dirty="0"/>
          </a:p>
        </p:txBody>
      </p:sp>
      <p:sp>
        <p:nvSpPr>
          <p:cNvPr id="12" name="Text 9"/>
          <p:cNvSpPr/>
          <p:nvPr/>
        </p:nvSpPr>
        <p:spPr>
          <a:xfrm>
            <a:off x="1697852" y="3401568"/>
            <a:ext cx="9317369" cy="617220"/>
          </a:xfrm>
          <a:prstGeom prst="rect">
            <a:avLst/>
          </a:prstGeom>
          <a:noFill/>
          <a:ln/>
        </p:spPr>
        <p:txBody>
          <a:bodyPr wrap="square" lIns="0" tIns="0" rIns="0" bIns="0" rtlCol="0" anchor="ctr"/>
          <a:lstStyle/>
          <a:p>
            <a:r>
              <a:rPr lang="en-US" sz="2100" dirty="0">
                <a:solidFill>
                  <a:srgbClr val="333231"/>
                </a:solidFill>
                <a:latin typeface="Calibri" pitchFamily="34" charset="0"/>
                <a:ea typeface="Calibri" pitchFamily="34" charset="-122"/>
                <a:cs typeface="Calibri" pitchFamily="34" charset="-120"/>
              </a:rPr>
              <a:t>All columns except spotify_subscription_plan</a:t>
            </a:r>
            <a:endParaRPr lang="en-US" sz="2100" dirty="0"/>
          </a:p>
        </p:txBody>
      </p:sp>
      <p:sp>
        <p:nvSpPr>
          <p:cNvPr id="15" name="Text 12"/>
          <p:cNvSpPr/>
          <p:nvPr/>
        </p:nvSpPr>
        <p:spPr>
          <a:xfrm>
            <a:off x="1697852" y="4128516"/>
            <a:ext cx="9317369" cy="384048"/>
          </a:xfrm>
          <a:prstGeom prst="rect">
            <a:avLst/>
          </a:prstGeom>
          <a:noFill/>
          <a:ln/>
        </p:spPr>
        <p:txBody>
          <a:bodyPr wrap="square" lIns="0" tIns="0" rIns="0" bIns="0" rtlCol="0" anchor="ctr"/>
          <a:lstStyle/>
          <a:p>
            <a:r>
              <a:rPr lang="en-US" sz="2400" b="1" dirty="0">
                <a:solidFill>
                  <a:srgbClr val="106861"/>
                </a:solidFill>
                <a:latin typeface="Calibri" pitchFamily="34" charset="0"/>
                <a:ea typeface="Calibri" pitchFamily="34" charset="-122"/>
                <a:cs typeface="Calibri" pitchFamily="34" charset="-120"/>
              </a:rPr>
              <a:t>Target (y)</a:t>
            </a:r>
            <a:endParaRPr lang="en-US" sz="2400" dirty="0"/>
          </a:p>
        </p:txBody>
      </p:sp>
      <p:sp>
        <p:nvSpPr>
          <p:cNvPr id="16" name="Text 13"/>
          <p:cNvSpPr/>
          <p:nvPr/>
        </p:nvSpPr>
        <p:spPr>
          <a:xfrm>
            <a:off x="1697852" y="4498848"/>
            <a:ext cx="9317369" cy="617220"/>
          </a:xfrm>
          <a:prstGeom prst="rect">
            <a:avLst/>
          </a:prstGeom>
          <a:noFill/>
          <a:ln/>
        </p:spPr>
        <p:txBody>
          <a:bodyPr wrap="square" lIns="0" tIns="0" rIns="0" bIns="0" rtlCol="0" anchor="ctr"/>
          <a:lstStyle/>
          <a:p>
            <a:r>
              <a:rPr lang="en-US" sz="2100" dirty="0" err="1">
                <a:solidFill>
                  <a:srgbClr val="333231"/>
                </a:solidFill>
                <a:latin typeface="Calibri" pitchFamily="34" charset="0"/>
                <a:ea typeface="Calibri" pitchFamily="34" charset="-122"/>
                <a:cs typeface="Calibri" pitchFamily="34" charset="-120"/>
              </a:rPr>
              <a:t>spotify_subscription_plan</a:t>
            </a:r>
            <a:r>
              <a:rPr lang="en-US" sz="2100" dirty="0">
                <a:solidFill>
                  <a:srgbClr val="333231"/>
                </a:solidFill>
                <a:latin typeface="Calibri" pitchFamily="34" charset="0"/>
                <a:ea typeface="Calibri" pitchFamily="34" charset="-122"/>
                <a:cs typeface="Calibri" pitchFamily="34" charset="-120"/>
              </a:rPr>
              <a:t> </a:t>
            </a:r>
            <a:endParaRPr lang="en-US" sz="2100" dirty="0"/>
          </a:p>
        </p:txBody>
      </p:sp>
      <p:sp>
        <p:nvSpPr>
          <p:cNvPr id="19" name="Text 16"/>
          <p:cNvSpPr/>
          <p:nvPr/>
        </p:nvSpPr>
        <p:spPr>
          <a:xfrm>
            <a:off x="1697852" y="5225796"/>
            <a:ext cx="9317369" cy="384048"/>
          </a:xfrm>
          <a:prstGeom prst="rect">
            <a:avLst/>
          </a:prstGeom>
          <a:noFill/>
          <a:ln/>
        </p:spPr>
        <p:txBody>
          <a:bodyPr wrap="square" lIns="0" tIns="0" rIns="0" bIns="0" rtlCol="0" anchor="ctr"/>
          <a:lstStyle/>
          <a:p>
            <a:r>
              <a:rPr lang="en-US" sz="2400" b="1" dirty="0">
                <a:solidFill>
                  <a:srgbClr val="106861"/>
                </a:solidFill>
                <a:latin typeface="Calibri" pitchFamily="34" charset="0"/>
                <a:ea typeface="Calibri" pitchFamily="34" charset="-122"/>
                <a:cs typeface="Calibri" pitchFamily="34" charset="-120"/>
              </a:rPr>
              <a:t>Encoding</a:t>
            </a:r>
            <a:endParaRPr lang="en-US" sz="2400" dirty="0"/>
          </a:p>
        </p:txBody>
      </p:sp>
      <p:sp>
        <p:nvSpPr>
          <p:cNvPr id="20" name="Text 17"/>
          <p:cNvSpPr/>
          <p:nvPr/>
        </p:nvSpPr>
        <p:spPr>
          <a:xfrm>
            <a:off x="1697852" y="5596128"/>
            <a:ext cx="9317369" cy="617220"/>
          </a:xfrm>
          <a:prstGeom prst="rect">
            <a:avLst/>
          </a:prstGeom>
          <a:noFill/>
          <a:ln/>
        </p:spPr>
        <p:txBody>
          <a:bodyPr wrap="square" lIns="0" tIns="0" rIns="0" bIns="0" rtlCol="0" anchor="ctr"/>
          <a:lstStyle/>
          <a:p>
            <a:r>
              <a:rPr lang="en-US" sz="2100" dirty="0">
                <a:solidFill>
                  <a:srgbClr val="333231"/>
                </a:solidFill>
                <a:latin typeface="Calibri" pitchFamily="34" charset="0"/>
                <a:ea typeface="Calibri" pitchFamily="34" charset="-122"/>
                <a:cs typeface="Calibri" pitchFamily="34" charset="-120"/>
              </a:rPr>
              <a:t>pd.get_dummies(X) --one-hot encoding (converts categorical text data into numbers that the M.L model can understand). </a:t>
            </a:r>
            <a:endParaRPr lang="en-US" sz="2100" dirty="0"/>
          </a:p>
        </p:txBody>
      </p:sp>
      <p:sp>
        <p:nvSpPr>
          <p:cNvPr id="23" name="Text 20"/>
          <p:cNvSpPr/>
          <p:nvPr/>
        </p:nvSpPr>
        <p:spPr>
          <a:xfrm>
            <a:off x="1697852" y="6323076"/>
            <a:ext cx="9317369" cy="384048"/>
          </a:xfrm>
          <a:prstGeom prst="rect">
            <a:avLst/>
          </a:prstGeom>
          <a:noFill/>
          <a:ln/>
        </p:spPr>
        <p:txBody>
          <a:bodyPr wrap="square" lIns="0" tIns="0" rIns="0" bIns="0" rtlCol="0" anchor="ctr"/>
          <a:lstStyle/>
          <a:p>
            <a:r>
              <a:rPr lang="en-US" sz="2400" b="1" dirty="0">
                <a:solidFill>
                  <a:srgbClr val="106861"/>
                </a:solidFill>
                <a:latin typeface="Calibri" pitchFamily="34" charset="0"/>
                <a:ea typeface="Calibri" pitchFamily="34" charset="-122"/>
                <a:cs typeface="Calibri" pitchFamily="34" charset="-120"/>
              </a:rPr>
              <a:t>Train/Test Split</a:t>
            </a:r>
            <a:endParaRPr lang="en-US" sz="2400" dirty="0"/>
          </a:p>
        </p:txBody>
      </p:sp>
      <p:sp>
        <p:nvSpPr>
          <p:cNvPr id="24" name="Text 21"/>
          <p:cNvSpPr/>
          <p:nvPr/>
        </p:nvSpPr>
        <p:spPr>
          <a:xfrm>
            <a:off x="1697852" y="6693408"/>
            <a:ext cx="9317369" cy="617220"/>
          </a:xfrm>
          <a:prstGeom prst="rect">
            <a:avLst/>
          </a:prstGeom>
          <a:noFill/>
          <a:ln/>
        </p:spPr>
        <p:txBody>
          <a:bodyPr wrap="square" lIns="0" tIns="0" rIns="0" bIns="0" rtlCol="0" anchor="ctr"/>
          <a:lstStyle/>
          <a:p>
            <a:r>
              <a:rPr lang="en-US" sz="2100" dirty="0">
                <a:solidFill>
                  <a:srgbClr val="333231"/>
                </a:solidFill>
                <a:latin typeface="Calibri" pitchFamily="34" charset="0"/>
                <a:ea typeface="Calibri" pitchFamily="34" charset="-122"/>
                <a:cs typeface="Calibri" pitchFamily="34" charset="-120"/>
              </a:rPr>
              <a:t>80% training, 20% testing · </a:t>
            </a:r>
            <a:r>
              <a:rPr lang="en-US" sz="2100" dirty="0" err="1" smtClean="0">
                <a:solidFill>
                  <a:srgbClr val="333231"/>
                </a:solidFill>
                <a:latin typeface="Calibri" pitchFamily="34" charset="0"/>
                <a:ea typeface="Calibri" pitchFamily="34" charset="-122"/>
                <a:cs typeface="Calibri" pitchFamily="34" charset="-120"/>
              </a:rPr>
              <a:t>random_state</a:t>
            </a:r>
            <a:r>
              <a:rPr lang="en-US" sz="2100" dirty="0" smtClean="0">
                <a:solidFill>
                  <a:srgbClr val="333231"/>
                </a:solidFill>
                <a:latin typeface="Calibri" pitchFamily="34" charset="0"/>
                <a:ea typeface="Calibri" pitchFamily="34" charset="-122"/>
                <a:cs typeface="Calibri" pitchFamily="34" charset="-120"/>
              </a:rPr>
              <a:t>=42</a:t>
            </a:r>
            <a:r>
              <a:rPr lang="en-US" sz="2100" dirty="0">
                <a:solidFill>
                  <a:srgbClr val="333231"/>
                </a:solidFill>
                <a:latin typeface="Calibri" pitchFamily="34" charset="0"/>
                <a:ea typeface="Calibri" pitchFamily="34" charset="-122"/>
                <a:cs typeface="Calibri" pitchFamily="34" charset="-120"/>
              </a:rPr>
              <a:t>.</a:t>
            </a:r>
            <a:endParaRPr lang="en-US" sz="2100" dirty="0"/>
          </a:p>
        </p:txBody>
      </p:sp>
      <p:sp>
        <p:nvSpPr>
          <p:cNvPr id="27" name="Text 24"/>
          <p:cNvSpPr/>
          <p:nvPr/>
        </p:nvSpPr>
        <p:spPr>
          <a:xfrm>
            <a:off x="1697852" y="7420356"/>
            <a:ext cx="9317369" cy="384048"/>
          </a:xfrm>
          <a:prstGeom prst="rect">
            <a:avLst/>
          </a:prstGeom>
          <a:noFill/>
          <a:ln/>
        </p:spPr>
        <p:txBody>
          <a:bodyPr wrap="square" lIns="0" tIns="0" rIns="0" bIns="0" rtlCol="0" anchor="ctr"/>
          <a:lstStyle/>
          <a:p>
            <a:r>
              <a:rPr lang="en-US" sz="2400" b="1" dirty="0">
                <a:solidFill>
                  <a:srgbClr val="106861"/>
                </a:solidFill>
                <a:latin typeface="Calibri" pitchFamily="34" charset="0"/>
                <a:ea typeface="Calibri" pitchFamily="34" charset="-122"/>
                <a:cs typeface="Calibri" pitchFamily="34" charset="-120"/>
              </a:rPr>
              <a:t>Algorithm</a:t>
            </a:r>
            <a:endParaRPr lang="en-US" sz="2400" dirty="0"/>
          </a:p>
        </p:txBody>
      </p:sp>
      <p:sp>
        <p:nvSpPr>
          <p:cNvPr id="28" name="Text 25"/>
          <p:cNvSpPr/>
          <p:nvPr/>
        </p:nvSpPr>
        <p:spPr>
          <a:xfrm>
            <a:off x="1697852" y="7790688"/>
            <a:ext cx="9317369" cy="617220"/>
          </a:xfrm>
          <a:prstGeom prst="rect">
            <a:avLst/>
          </a:prstGeom>
          <a:noFill/>
          <a:ln/>
        </p:spPr>
        <p:txBody>
          <a:bodyPr wrap="square" lIns="0" tIns="0" rIns="0" bIns="0" rtlCol="0" anchor="ctr"/>
          <a:lstStyle/>
          <a:p>
            <a:r>
              <a:rPr lang="en-US" sz="2100" dirty="0">
                <a:solidFill>
                  <a:srgbClr val="333231"/>
                </a:solidFill>
                <a:latin typeface="Calibri" pitchFamily="34" charset="0"/>
                <a:ea typeface="Calibri" pitchFamily="34" charset="-122"/>
                <a:cs typeface="Calibri" pitchFamily="34" charset="-120"/>
              </a:rPr>
              <a:t>LogisticRegression() from sklearn — suitable for binary classification</a:t>
            </a:r>
            <a:endParaRPr lang="en-US" sz="2100" dirty="0"/>
          </a:p>
        </p:txBody>
      </p:sp>
      <p:grpSp>
        <p:nvGrpSpPr>
          <p:cNvPr id="47" name="Group 46"/>
          <p:cNvGrpSpPr/>
          <p:nvPr/>
        </p:nvGrpSpPr>
        <p:grpSpPr>
          <a:xfrm>
            <a:off x="891539" y="3058668"/>
            <a:ext cx="438914" cy="5925312"/>
            <a:chOff x="594358" y="2039112"/>
            <a:chExt cx="382253" cy="3950208"/>
          </a:xfrm>
        </p:grpSpPr>
        <p:sp>
          <p:nvSpPr>
            <p:cNvPr id="9" name="Shape 6"/>
            <p:cNvSpPr/>
            <p:nvPr/>
          </p:nvSpPr>
          <p:spPr>
            <a:xfrm>
              <a:off x="594360" y="2039112"/>
              <a:ext cx="382251" cy="292608"/>
            </a:xfrm>
            <a:prstGeom prst="ellipse">
              <a:avLst/>
            </a:prstGeom>
            <a:solidFill>
              <a:srgbClr val="106861"/>
            </a:solidFill>
            <a:ln w="12700">
              <a:solidFill>
                <a:srgbClr val="106861"/>
              </a:solidFill>
              <a:prstDash val="solid"/>
            </a:ln>
          </p:spPr>
          <p:txBody>
            <a:bodyPr/>
            <a:lstStyle/>
            <a:p>
              <a:r>
                <a:rPr lang="en-US" b="1" dirty="0" smtClean="0">
                  <a:solidFill>
                    <a:schemeClr val="bg1"/>
                  </a:solidFill>
                </a:rPr>
                <a:t>1</a:t>
              </a:r>
              <a:endParaRPr lang="en-GB" b="1" dirty="0">
                <a:solidFill>
                  <a:schemeClr val="bg1"/>
                </a:solidFill>
              </a:endParaRPr>
            </a:p>
          </p:txBody>
        </p:sp>
        <p:sp>
          <p:nvSpPr>
            <p:cNvPr id="13" name="Shape 10"/>
            <p:cNvSpPr/>
            <p:nvPr/>
          </p:nvSpPr>
          <p:spPr>
            <a:xfrm>
              <a:off x="594360" y="2770632"/>
              <a:ext cx="382251" cy="292608"/>
            </a:xfrm>
            <a:prstGeom prst="ellipse">
              <a:avLst/>
            </a:prstGeom>
            <a:solidFill>
              <a:srgbClr val="106861"/>
            </a:solidFill>
            <a:ln w="12700">
              <a:solidFill>
                <a:srgbClr val="106861"/>
              </a:solidFill>
              <a:prstDash val="solid"/>
            </a:ln>
          </p:spPr>
          <p:txBody>
            <a:bodyPr/>
            <a:lstStyle/>
            <a:p>
              <a:r>
                <a:rPr lang="en-US" b="1" dirty="0" smtClean="0">
                  <a:solidFill>
                    <a:schemeClr val="bg1"/>
                  </a:solidFill>
                </a:rPr>
                <a:t>2</a:t>
              </a:r>
              <a:endParaRPr lang="en-GB" b="1" dirty="0">
                <a:solidFill>
                  <a:schemeClr val="bg1"/>
                </a:solidFill>
              </a:endParaRPr>
            </a:p>
          </p:txBody>
        </p:sp>
        <p:sp>
          <p:nvSpPr>
            <p:cNvPr id="17" name="Shape 14"/>
            <p:cNvSpPr/>
            <p:nvPr/>
          </p:nvSpPr>
          <p:spPr>
            <a:xfrm>
              <a:off x="594358" y="3502152"/>
              <a:ext cx="382251" cy="292608"/>
            </a:xfrm>
            <a:prstGeom prst="ellipse">
              <a:avLst/>
            </a:prstGeom>
            <a:solidFill>
              <a:srgbClr val="106861"/>
            </a:solidFill>
            <a:ln w="12700">
              <a:solidFill>
                <a:srgbClr val="106861"/>
              </a:solidFill>
              <a:prstDash val="solid"/>
            </a:ln>
          </p:spPr>
          <p:txBody>
            <a:bodyPr/>
            <a:lstStyle/>
            <a:p>
              <a:r>
                <a:rPr lang="en-US" b="1" dirty="0" smtClean="0">
                  <a:solidFill>
                    <a:schemeClr val="bg1"/>
                  </a:solidFill>
                </a:rPr>
                <a:t>3</a:t>
              </a:r>
              <a:endParaRPr lang="en-GB" b="1" dirty="0">
                <a:solidFill>
                  <a:schemeClr val="bg1"/>
                </a:solidFill>
              </a:endParaRPr>
            </a:p>
          </p:txBody>
        </p:sp>
        <p:sp>
          <p:nvSpPr>
            <p:cNvPr id="21" name="Shape 18"/>
            <p:cNvSpPr/>
            <p:nvPr/>
          </p:nvSpPr>
          <p:spPr>
            <a:xfrm>
              <a:off x="594360" y="4233672"/>
              <a:ext cx="382251" cy="292608"/>
            </a:xfrm>
            <a:prstGeom prst="ellipse">
              <a:avLst/>
            </a:prstGeom>
            <a:solidFill>
              <a:srgbClr val="106861"/>
            </a:solidFill>
            <a:ln w="12700">
              <a:solidFill>
                <a:srgbClr val="106861"/>
              </a:solidFill>
              <a:prstDash val="solid"/>
            </a:ln>
          </p:spPr>
          <p:txBody>
            <a:bodyPr/>
            <a:lstStyle/>
            <a:p>
              <a:r>
                <a:rPr lang="en-US" b="1" dirty="0" smtClean="0">
                  <a:solidFill>
                    <a:schemeClr val="bg1"/>
                  </a:solidFill>
                </a:rPr>
                <a:t>4</a:t>
              </a:r>
              <a:endParaRPr lang="en-GB" b="1" dirty="0">
                <a:solidFill>
                  <a:schemeClr val="bg1"/>
                </a:solidFill>
              </a:endParaRPr>
            </a:p>
          </p:txBody>
        </p:sp>
        <p:sp>
          <p:nvSpPr>
            <p:cNvPr id="25" name="Shape 22"/>
            <p:cNvSpPr/>
            <p:nvPr/>
          </p:nvSpPr>
          <p:spPr>
            <a:xfrm>
              <a:off x="594360" y="4965192"/>
              <a:ext cx="382251" cy="292608"/>
            </a:xfrm>
            <a:prstGeom prst="ellipse">
              <a:avLst/>
            </a:prstGeom>
            <a:solidFill>
              <a:srgbClr val="106861"/>
            </a:solidFill>
            <a:ln w="12700">
              <a:solidFill>
                <a:srgbClr val="106861"/>
              </a:solidFill>
              <a:prstDash val="solid"/>
            </a:ln>
          </p:spPr>
          <p:txBody>
            <a:bodyPr/>
            <a:lstStyle/>
            <a:p>
              <a:r>
                <a:rPr lang="en-US" b="1" dirty="0" smtClean="0">
                  <a:solidFill>
                    <a:schemeClr val="bg1"/>
                  </a:solidFill>
                </a:rPr>
                <a:t>5</a:t>
              </a:r>
              <a:endParaRPr lang="en-GB" b="1" dirty="0">
                <a:solidFill>
                  <a:schemeClr val="bg1"/>
                </a:solidFill>
              </a:endParaRPr>
            </a:p>
          </p:txBody>
        </p:sp>
        <p:sp>
          <p:nvSpPr>
            <p:cNvPr id="29" name="Shape 26"/>
            <p:cNvSpPr/>
            <p:nvPr/>
          </p:nvSpPr>
          <p:spPr>
            <a:xfrm>
              <a:off x="594360" y="5696712"/>
              <a:ext cx="382251" cy="292608"/>
            </a:xfrm>
            <a:prstGeom prst="ellipse">
              <a:avLst/>
            </a:prstGeom>
            <a:solidFill>
              <a:srgbClr val="106861"/>
            </a:solidFill>
            <a:ln w="12700">
              <a:solidFill>
                <a:srgbClr val="106861"/>
              </a:solidFill>
              <a:prstDash val="solid"/>
            </a:ln>
          </p:spPr>
          <p:txBody>
            <a:bodyPr/>
            <a:lstStyle/>
            <a:p>
              <a:r>
                <a:rPr lang="en-US" b="1" dirty="0" smtClean="0">
                  <a:solidFill>
                    <a:schemeClr val="bg1"/>
                  </a:solidFill>
                </a:rPr>
                <a:t>6</a:t>
              </a:r>
              <a:endParaRPr lang="en-GB" b="1" dirty="0">
                <a:solidFill>
                  <a:schemeClr val="bg1"/>
                </a:solidFill>
              </a:endParaRPr>
            </a:p>
          </p:txBody>
        </p:sp>
      </p:grpSp>
      <p:sp>
        <p:nvSpPr>
          <p:cNvPr id="31" name="Text 28"/>
          <p:cNvSpPr/>
          <p:nvPr/>
        </p:nvSpPr>
        <p:spPr>
          <a:xfrm>
            <a:off x="1697852" y="8517636"/>
            <a:ext cx="9317369" cy="384048"/>
          </a:xfrm>
          <a:prstGeom prst="rect">
            <a:avLst/>
          </a:prstGeom>
          <a:noFill/>
          <a:ln/>
        </p:spPr>
        <p:txBody>
          <a:bodyPr wrap="square" lIns="0" tIns="0" rIns="0" bIns="0" rtlCol="0" anchor="ctr"/>
          <a:lstStyle/>
          <a:p>
            <a:r>
              <a:rPr lang="en-US" sz="2400" b="1" dirty="0">
                <a:solidFill>
                  <a:srgbClr val="106861"/>
                </a:solidFill>
                <a:latin typeface="Calibri" pitchFamily="34" charset="0"/>
                <a:ea typeface="Calibri" pitchFamily="34" charset="-122"/>
                <a:cs typeface="Calibri" pitchFamily="34" charset="-120"/>
              </a:rPr>
              <a:t>Evaluation</a:t>
            </a:r>
            <a:endParaRPr lang="en-US" sz="2400" dirty="0"/>
          </a:p>
        </p:txBody>
      </p:sp>
      <p:sp>
        <p:nvSpPr>
          <p:cNvPr id="32" name="Text 29"/>
          <p:cNvSpPr/>
          <p:nvPr/>
        </p:nvSpPr>
        <p:spPr>
          <a:xfrm>
            <a:off x="1697852" y="8887968"/>
            <a:ext cx="9317369" cy="617220"/>
          </a:xfrm>
          <a:prstGeom prst="rect">
            <a:avLst/>
          </a:prstGeom>
          <a:noFill/>
          <a:ln/>
        </p:spPr>
        <p:txBody>
          <a:bodyPr wrap="square" lIns="0" tIns="0" rIns="0" bIns="0" rtlCol="0" anchor="ctr"/>
          <a:lstStyle/>
          <a:p>
            <a:r>
              <a:rPr lang="en-US" sz="2100" dirty="0">
                <a:solidFill>
                  <a:srgbClr val="333231"/>
                </a:solidFill>
                <a:latin typeface="Calibri" pitchFamily="34" charset="0"/>
                <a:ea typeface="Calibri" pitchFamily="34" charset="-122"/>
                <a:cs typeface="Calibri" pitchFamily="34" charset="-120"/>
              </a:rPr>
              <a:t>Accuracy score on  test </a:t>
            </a:r>
            <a:r>
              <a:rPr lang="en-US" sz="2100" dirty="0" smtClean="0">
                <a:solidFill>
                  <a:srgbClr val="333231"/>
                </a:solidFill>
                <a:latin typeface="Calibri" pitchFamily="34" charset="0"/>
                <a:ea typeface="Calibri" pitchFamily="34" charset="-122"/>
                <a:cs typeface="Calibri" pitchFamily="34" charset="-120"/>
              </a:rPr>
              <a:t>set (approx. 72%)</a:t>
            </a:r>
            <a:endParaRPr lang="en-US" sz="2100" dirty="0"/>
          </a:p>
        </p:txBody>
      </p:sp>
      <p:grpSp>
        <p:nvGrpSpPr>
          <p:cNvPr id="39" name="Group 38"/>
          <p:cNvGrpSpPr/>
          <p:nvPr/>
        </p:nvGrpSpPr>
        <p:grpSpPr>
          <a:xfrm>
            <a:off x="11891913" y="2194560"/>
            <a:ext cx="5938887" cy="3429000"/>
            <a:chOff x="6309360" y="1463040"/>
            <a:chExt cx="5616105" cy="2286000"/>
          </a:xfrm>
        </p:grpSpPr>
        <p:sp>
          <p:nvSpPr>
            <p:cNvPr id="33" name="Shape 30"/>
            <p:cNvSpPr/>
            <p:nvPr/>
          </p:nvSpPr>
          <p:spPr>
            <a:xfrm>
              <a:off x="6309360" y="1463040"/>
              <a:ext cx="5486400" cy="2286000"/>
            </a:xfrm>
            <a:prstGeom prst="roundRect">
              <a:avLst>
                <a:gd name="adj" fmla="val 3200"/>
              </a:avLst>
            </a:prstGeom>
            <a:solidFill>
              <a:srgbClr val="106861"/>
            </a:solidFill>
            <a:ln w="12700">
              <a:solidFill>
                <a:srgbClr val="106861"/>
              </a:solidFill>
              <a:prstDash val="solid"/>
            </a:ln>
          </p:spPr>
        </p:sp>
        <p:sp>
          <p:nvSpPr>
            <p:cNvPr id="34" name="Text 31"/>
            <p:cNvSpPr/>
            <p:nvPr/>
          </p:nvSpPr>
          <p:spPr>
            <a:xfrm>
              <a:off x="6804826" y="1497259"/>
              <a:ext cx="5120639" cy="347472"/>
            </a:xfrm>
            <a:prstGeom prst="rect">
              <a:avLst/>
            </a:prstGeom>
            <a:noFill/>
            <a:ln/>
          </p:spPr>
          <p:txBody>
            <a:bodyPr wrap="square" lIns="0" tIns="0" rIns="0" bIns="0" rtlCol="0" anchor="ctr"/>
            <a:lstStyle/>
            <a:p>
              <a:r>
                <a:rPr lang="en-US" sz="2400" b="1" dirty="0">
                  <a:solidFill>
                    <a:srgbClr val="87D9C4"/>
                  </a:solidFill>
                  <a:latin typeface="Calibri" pitchFamily="34" charset="0"/>
                  <a:ea typeface="Calibri" pitchFamily="34" charset="-122"/>
                  <a:cs typeface="Calibri" pitchFamily="34" charset="-120"/>
                </a:rPr>
                <a:t>Why Logistic Regression?</a:t>
              </a:r>
              <a:endParaRPr lang="en-US" sz="2400" dirty="0"/>
            </a:p>
          </p:txBody>
        </p:sp>
      </p:grpSp>
      <p:sp>
        <p:nvSpPr>
          <p:cNvPr id="36" name="Shape 33"/>
          <p:cNvSpPr/>
          <p:nvPr/>
        </p:nvSpPr>
        <p:spPr>
          <a:xfrm>
            <a:off x="11891913" y="5966460"/>
            <a:ext cx="5801727" cy="3703320"/>
          </a:xfrm>
          <a:prstGeom prst="roundRect">
            <a:avLst>
              <a:gd name="adj" fmla="val 2963"/>
            </a:avLst>
          </a:prstGeom>
          <a:solidFill>
            <a:srgbClr val="FFFFFF"/>
          </a:solidFill>
          <a:ln/>
          <a:effectLst>
            <a:outerShdw blurRad="101600" dist="25400" dir="2700000" algn="bl" rotWithShape="0">
              <a:srgbClr val="000000">
                <a:alpha val="10000"/>
              </a:srgbClr>
            </a:outerShdw>
          </a:effectLst>
        </p:spPr>
      </p:sp>
      <p:grpSp>
        <p:nvGrpSpPr>
          <p:cNvPr id="40" name="Group 39"/>
          <p:cNvGrpSpPr/>
          <p:nvPr/>
        </p:nvGrpSpPr>
        <p:grpSpPr>
          <a:xfrm>
            <a:off x="11850545" y="6298897"/>
            <a:ext cx="5980256" cy="3021668"/>
            <a:chOff x="6252519" y="4199264"/>
            <a:chExt cx="6226755" cy="2014445"/>
          </a:xfrm>
        </p:grpSpPr>
        <p:sp>
          <p:nvSpPr>
            <p:cNvPr id="37" name="Text 34"/>
            <p:cNvSpPr/>
            <p:nvPr/>
          </p:nvSpPr>
          <p:spPr>
            <a:xfrm>
              <a:off x="6805575" y="4199264"/>
              <a:ext cx="5120640" cy="347472"/>
            </a:xfrm>
            <a:prstGeom prst="rect">
              <a:avLst/>
            </a:prstGeom>
            <a:noFill/>
            <a:ln/>
          </p:spPr>
          <p:txBody>
            <a:bodyPr wrap="square" lIns="0" tIns="0" rIns="0" bIns="0" rtlCol="0" anchor="ctr"/>
            <a:lstStyle/>
            <a:p>
              <a:r>
                <a:rPr lang="en-US" sz="2700" b="1" dirty="0">
                  <a:solidFill>
                    <a:srgbClr val="106861"/>
                  </a:solidFill>
                  <a:latin typeface="Calibri" pitchFamily="34" charset="0"/>
                  <a:ea typeface="Calibri" pitchFamily="34" charset="-122"/>
                  <a:cs typeface="Calibri" pitchFamily="34" charset="-120"/>
                </a:rPr>
                <a:t>Libraries Used</a:t>
              </a:r>
              <a:endParaRPr lang="en-US" sz="2700" dirty="0"/>
            </a:p>
          </p:txBody>
        </p:sp>
        <p:sp>
          <p:nvSpPr>
            <p:cNvPr id="38" name="Text 35"/>
            <p:cNvSpPr/>
            <p:nvPr/>
          </p:nvSpPr>
          <p:spPr>
            <a:xfrm>
              <a:off x="6252519" y="4522069"/>
              <a:ext cx="6226755" cy="1691640"/>
            </a:xfrm>
            <a:prstGeom prst="rect">
              <a:avLst/>
            </a:prstGeom>
            <a:noFill/>
            <a:ln/>
          </p:spPr>
          <p:txBody>
            <a:bodyPr wrap="square" rtlCol="0" anchor="ctr"/>
            <a:lstStyle/>
            <a:p>
              <a:pPr marL="428625" indent="-428625">
                <a:buFont typeface="Arial" panose="020B0604020202020204" pitchFamily="34" charset="0"/>
                <a:buChar char="•"/>
              </a:pPr>
              <a:r>
                <a:rPr lang="en-US" sz="2400" b="1" dirty="0">
                  <a:solidFill>
                    <a:srgbClr val="333231"/>
                  </a:solidFill>
                  <a:latin typeface="Calibri" pitchFamily="34" charset="0"/>
                  <a:ea typeface="Calibri" pitchFamily="34" charset="-122"/>
                  <a:cs typeface="Calibri" pitchFamily="34" charset="-120"/>
                </a:rPr>
                <a:t>pandas</a:t>
              </a:r>
              <a:r>
                <a:rPr lang="en-US" sz="2400" dirty="0">
                  <a:solidFill>
                    <a:srgbClr val="333231"/>
                  </a:solidFill>
                  <a:latin typeface="Calibri" pitchFamily="34" charset="0"/>
                  <a:ea typeface="Calibri" pitchFamily="34" charset="-122"/>
                  <a:cs typeface="Calibri" pitchFamily="34" charset="-120"/>
                </a:rPr>
                <a:t> — data loading &amp; manipulation</a:t>
              </a:r>
            </a:p>
            <a:p>
              <a:pPr marL="428625" indent="-428625">
                <a:buFont typeface="Arial" panose="020B0604020202020204" pitchFamily="34" charset="0"/>
                <a:buChar char="•"/>
              </a:pPr>
              <a:endParaRPr lang="en-US" sz="2400" dirty="0"/>
            </a:p>
            <a:p>
              <a:pPr marL="428625" indent="-428625">
                <a:buFont typeface="Arial" panose="020B0604020202020204" pitchFamily="34" charset="0"/>
                <a:buChar char="•"/>
              </a:pPr>
              <a:r>
                <a:rPr lang="en-US" sz="2400" b="1" dirty="0" err="1">
                  <a:solidFill>
                    <a:srgbClr val="333231"/>
                  </a:solidFill>
                  <a:latin typeface="Calibri" pitchFamily="34" charset="0"/>
                  <a:ea typeface="Calibri" pitchFamily="34" charset="-122"/>
                  <a:cs typeface="Calibri" pitchFamily="34" charset="-120"/>
                </a:rPr>
                <a:t>matplotlib</a:t>
              </a:r>
              <a:r>
                <a:rPr lang="en-US" sz="2400" b="1" dirty="0">
                  <a:solidFill>
                    <a:srgbClr val="333231"/>
                  </a:solidFill>
                  <a:latin typeface="Calibri" pitchFamily="34" charset="0"/>
                  <a:ea typeface="Calibri" pitchFamily="34" charset="-122"/>
                  <a:cs typeface="Calibri" pitchFamily="34" charset="-120"/>
                </a:rPr>
                <a:t> </a:t>
              </a:r>
              <a:r>
                <a:rPr lang="en-US" sz="2400" dirty="0" smtClean="0">
                  <a:solidFill>
                    <a:srgbClr val="333231"/>
                  </a:solidFill>
                  <a:latin typeface="Calibri" pitchFamily="34" charset="0"/>
                  <a:ea typeface="Calibri" pitchFamily="34" charset="-122"/>
                  <a:cs typeface="Calibri" pitchFamily="34" charset="-120"/>
                </a:rPr>
                <a:t>— </a:t>
              </a:r>
              <a:r>
                <a:rPr lang="en-US" sz="2400" dirty="0">
                  <a:solidFill>
                    <a:srgbClr val="333231"/>
                  </a:solidFill>
                  <a:latin typeface="Calibri" pitchFamily="34" charset="0"/>
                  <a:ea typeface="Calibri" pitchFamily="34" charset="-122"/>
                  <a:cs typeface="Calibri" pitchFamily="34" charset="-120"/>
                </a:rPr>
                <a:t>visualisation</a:t>
              </a:r>
              <a:endParaRPr lang="en-US" sz="2400" dirty="0"/>
            </a:p>
            <a:p>
              <a:pPr marL="428625" indent="-428625">
                <a:buFont typeface="Arial" panose="020B0604020202020204" pitchFamily="34" charset="0"/>
                <a:buChar char="•"/>
              </a:pPr>
              <a:endParaRPr lang="en-US" sz="2400" b="1" dirty="0">
                <a:solidFill>
                  <a:srgbClr val="333231"/>
                </a:solidFill>
                <a:latin typeface="Calibri" pitchFamily="34" charset="0"/>
                <a:ea typeface="Calibri" pitchFamily="34" charset="-122"/>
                <a:cs typeface="Calibri" pitchFamily="34" charset="-120"/>
              </a:endParaRPr>
            </a:p>
            <a:p>
              <a:pPr marL="428625" indent="-428625">
                <a:buFont typeface="Arial" panose="020B0604020202020204" pitchFamily="34" charset="0"/>
                <a:buChar char="•"/>
              </a:pPr>
              <a:r>
                <a:rPr lang="en-US" sz="2400" b="1" dirty="0">
                  <a:solidFill>
                    <a:srgbClr val="333231"/>
                  </a:solidFill>
                  <a:latin typeface="Calibri" pitchFamily="34" charset="0"/>
                  <a:ea typeface="Calibri" pitchFamily="34" charset="-122"/>
                  <a:cs typeface="Calibri" pitchFamily="34" charset="-120"/>
                </a:rPr>
                <a:t>scikit-learn</a:t>
              </a:r>
              <a:r>
                <a:rPr lang="en-US" sz="2400" dirty="0">
                  <a:solidFill>
                    <a:srgbClr val="333231"/>
                  </a:solidFill>
                  <a:latin typeface="Calibri" pitchFamily="34" charset="0"/>
                  <a:ea typeface="Calibri" pitchFamily="34" charset="-122"/>
                  <a:cs typeface="Calibri" pitchFamily="34" charset="-120"/>
                </a:rPr>
                <a:t> — train_test_split, LogisticRegression, accuracy_score</a:t>
              </a:r>
              <a:endParaRPr lang="en-US" sz="2400" dirty="0"/>
            </a:p>
          </p:txBody>
        </p:sp>
      </p:grpSp>
      <p:sp>
        <p:nvSpPr>
          <p:cNvPr id="50" name="Rectangle 3"/>
          <p:cNvSpPr>
            <a:spLocks noChangeArrowheads="1"/>
          </p:cNvSpPr>
          <p:nvPr/>
        </p:nvSpPr>
        <p:spPr bwMode="auto">
          <a:xfrm>
            <a:off x="11850545" y="2783823"/>
            <a:ext cx="5649704"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pPr marL="428625" indent="-428625" defTabSz="1371600" eaLnBrk="0" fontAlgn="base" hangingPunct="0">
              <a:spcBef>
                <a:spcPct val="0"/>
              </a:spcBef>
              <a:spcAft>
                <a:spcPct val="0"/>
              </a:spcAft>
              <a:buFont typeface="Arial" panose="020B0604020202020204" pitchFamily="34" charset="0"/>
              <a:buChar char="•"/>
            </a:pPr>
            <a:r>
              <a:rPr lang="en-US" altLang="en-US" sz="2400" dirty="0">
                <a:solidFill>
                  <a:schemeClr val="bg1"/>
                </a:solidFill>
              </a:rPr>
              <a:t>L</a:t>
            </a:r>
            <a:r>
              <a:rPr lang="en-US" altLang="en-US" sz="2100" dirty="0">
                <a:solidFill>
                  <a:schemeClr val="bg1"/>
                </a:solidFill>
              </a:rPr>
              <a:t>ogistic Regression was chosen because the problem is a binary classification task which suits the model natively.</a:t>
            </a:r>
          </a:p>
          <a:p>
            <a:pPr marL="428625" indent="-428625" defTabSz="1371600" eaLnBrk="0" fontAlgn="base" hangingPunct="0">
              <a:spcBef>
                <a:spcPct val="0"/>
              </a:spcBef>
              <a:spcAft>
                <a:spcPct val="0"/>
              </a:spcAft>
              <a:buFont typeface="Arial" panose="020B0604020202020204" pitchFamily="34" charset="0"/>
              <a:buChar char="•"/>
            </a:pPr>
            <a:endParaRPr lang="en-US" altLang="en-US" sz="2100" dirty="0">
              <a:solidFill>
                <a:schemeClr val="bg1"/>
              </a:solidFill>
            </a:endParaRPr>
          </a:p>
          <a:p>
            <a:pPr marL="428625" indent="-428625" defTabSz="1371600" eaLnBrk="0" fontAlgn="base" hangingPunct="0">
              <a:spcBef>
                <a:spcPct val="0"/>
              </a:spcBef>
              <a:spcAft>
                <a:spcPct val="0"/>
              </a:spcAft>
              <a:buFont typeface="Arial" panose="020B0604020202020204" pitchFamily="34" charset="0"/>
              <a:buChar char="•"/>
            </a:pPr>
            <a:r>
              <a:rPr lang="en-US" altLang="en-US" sz="2100" dirty="0">
                <a:solidFill>
                  <a:schemeClr val="bg1"/>
                </a:solidFill>
              </a:rPr>
              <a:t>The target variable spotify_subscription_plan has exactly two outcomes: Free (ad-supported) or Premium (paid subscription). </a:t>
            </a:r>
          </a:p>
        </p:txBody>
      </p:sp>
      <p:sp>
        <p:nvSpPr>
          <p:cNvPr id="42" name="Shape 3"/>
          <p:cNvSpPr/>
          <p:nvPr/>
        </p:nvSpPr>
        <p:spPr>
          <a:xfrm>
            <a:off x="6324601" y="1032235"/>
            <a:ext cx="3581400" cy="161057"/>
          </a:xfrm>
          <a:prstGeom prst="rect">
            <a:avLst/>
          </a:prstGeom>
          <a:solidFill>
            <a:srgbClr val="1A7060"/>
          </a:solidFill>
          <a:ln w="12700">
            <a:solidFill>
              <a:srgbClr val="87D9C4"/>
            </a:solidFill>
            <a:prstDash val="solid"/>
          </a:ln>
        </p:spPr>
      </p:sp>
    </p:spTree>
    <p:extLst>
      <p:ext uri="{BB962C8B-B14F-4D97-AF65-F5344CB8AC3E}">
        <p14:creationId xmlns:p14="http://schemas.microsoft.com/office/powerpoint/2010/main" val="16211693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480060" cy="10287000"/>
          </a:xfrm>
          <a:prstGeom prst="rect">
            <a:avLst/>
          </a:prstGeom>
          <a:solidFill>
            <a:srgbClr val="106861"/>
          </a:solidFill>
          <a:ln w="12700">
            <a:solidFill>
              <a:srgbClr val="106861"/>
            </a:solidFill>
            <a:prstDash val="solid"/>
          </a:ln>
        </p:spPr>
      </p:sp>
      <p:sp>
        <p:nvSpPr>
          <p:cNvPr id="3" name="Text 1"/>
          <p:cNvSpPr/>
          <p:nvPr/>
        </p:nvSpPr>
        <p:spPr>
          <a:xfrm>
            <a:off x="5151120" y="356616"/>
            <a:ext cx="8763000" cy="960120"/>
          </a:xfrm>
          <a:prstGeom prst="rect">
            <a:avLst/>
          </a:prstGeom>
          <a:noFill/>
          <a:ln/>
        </p:spPr>
        <p:txBody>
          <a:bodyPr wrap="square" lIns="0" tIns="0" rIns="0" bIns="0" rtlCol="0" anchor="ctr"/>
          <a:lstStyle/>
          <a:p>
            <a:r>
              <a:rPr lang="en-US" sz="7200" b="1" dirty="0" smtClean="0">
                <a:solidFill>
                  <a:srgbClr val="0B4541"/>
                </a:solidFill>
                <a:latin typeface="Calibri" pitchFamily="34" charset="0"/>
                <a:ea typeface="Calibri" pitchFamily="34" charset="-122"/>
                <a:cs typeface="Calibri" pitchFamily="34" charset="-120"/>
              </a:rPr>
              <a:t>RECOMMENDATIONS</a:t>
            </a:r>
            <a:endParaRPr lang="en-US" sz="7200" dirty="0">
              <a:solidFill>
                <a:srgbClr val="0B4541"/>
              </a:solidFill>
            </a:endParaRPr>
          </a:p>
        </p:txBody>
      </p:sp>
      <p:sp>
        <p:nvSpPr>
          <p:cNvPr id="5" name="Shape 3"/>
          <p:cNvSpPr/>
          <p:nvPr/>
        </p:nvSpPr>
        <p:spPr>
          <a:xfrm>
            <a:off x="4953000" y="1272406"/>
            <a:ext cx="8610600" cy="123444"/>
          </a:xfrm>
          <a:prstGeom prst="rect">
            <a:avLst/>
          </a:prstGeom>
          <a:solidFill>
            <a:srgbClr val="1A7060"/>
          </a:solidFill>
          <a:ln w="12700">
            <a:solidFill>
              <a:srgbClr val="87D9C4"/>
            </a:solidFill>
            <a:prstDash val="solid"/>
          </a:ln>
        </p:spPr>
      </p:sp>
      <p:pic>
        <p:nvPicPr>
          <p:cNvPr id="6" name="Image 0" descr="/home/claude/spotify_green.png"/>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6939260" y="411480"/>
            <a:ext cx="685800" cy="685800"/>
          </a:xfrm>
          <a:prstGeom prst="rect">
            <a:avLst/>
          </a:prstGeom>
        </p:spPr>
      </p:pic>
      <p:sp>
        <p:nvSpPr>
          <p:cNvPr id="7" name="Shape 4"/>
          <p:cNvSpPr/>
          <p:nvPr/>
        </p:nvSpPr>
        <p:spPr>
          <a:xfrm>
            <a:off x="807720" y="2628900"/>
            <a:ext cx="8229600" cy="3086100"/>
          </a:xfrm>
          <a:prstGeom prst="roundRect">
            <a:avLst>
              <a:gd name="adj" fmla="val 3556"/>
            </a:avLst>
          </a:prstGeom>
          <a:solidFill>
            <a:srgbClr val="FFFFFF"/>
          </a:solidFill>
          <a:ln/>
          <a:effectLst>
            <a:outerShdw blurRad="88900" dist="25400" dir="2700000" algn="bl" rotWithShape="0">
              <a:srgbClr val="000000">
                <a:alpha val="10000"/>
              </a:srgbClr>
            </a:outerShdw>
          </a:effectLst>
        </p:spPr>
      </p:sp>
      <p:sp>
        <p:nvSpPr>
          <p:cNvPr id="8" name="Shape 5"/>
          <p:cNvSpPr/>
          <p:nvPr/>
        </p:nvSpPr>
        <p:spPr>
          <a:xfrm>
            <a:off x="807720" y="2628900"/>
            <a:ext cx="8229600" cy="96012"/>
          </a:xfrm>
          <a:prstGeom prst="roundRect">
            <a:avLst>
              <a:gd name="adj" fmla="val 114286"/>
            </a:avLst>
          </a:prstGeom>
          <a:solidFill>
            <a:srgbClr val="1A7060"/>
          </a:solidFill>
          <a:ln w="12700">
            <a:solidFill>
              <a:srgbClr val="1A7060"/>
            </a:solidFill>
            <a:prstDash val="solid"/>
          </a:ln>
        </p:spPr>
      </p:sp>
      <p:sp>
        <p:nvSpPr>
          <p:cNvPr id="9" name="Text 6"/>
          <p:cNvSpPr/>
          <p:nvPr/>
        </p:nvSpPr>
        <p:spPr>
          <a:xfrm>
            <a:off x="848868" y="2872253"/>
            <a:ext cx="7680960" cy="521208"/>
          </a:xfrm>
          <a:prstGeom prst="rect">
            <a:avLst/>
          </a:prstGeom>
          <a:noFill/>
          <a:ln/>
        </p:spPr>
        <p:txBody>
          <a:bodyPr wrap="square" lIns="0" tIns="0" rIns="0" bIns="0" rtlCol="0" anchor="ctr"/>
          <a:lstStyle/>
          <a:p>
            <a:r>
              <a:rPr lang="en-US" sz="3000" b="1" dirty="0">
                <a:solidFill>
                  <a:srgbClr val="106861"/>
                </a:solidFill>
                <a:latin typeface="Calibri" pitchFamily="34" charset="0"/>
                <a:ea typeface="Calibri" pitchFamily="34" charset="-122"/>
                <a:cs typeface="Calibri" pitchFamily="34" charset="-120"/>
              </a:rPr>
              <a:t> 1. Focus on converting free users to premium</a:t>
            </a:r>
          </a:p>
        </p:txBody>
      </p:sp>
      <p:sp>
        <p:nvSpPr>
          <p:cNvPr id="10" name="Text 7"/>
          <p:cNvSpPr/>
          <p:nvPr/>
        </p:nvSpPr>
        <p:spPr>
          <a:xfrm>
            <a:off x="1335786" y="3589020"/>
            <a:ext cx="7173468" cy="2125980"/>
          </a:xfrm>
          <a:prstGeom prst="rect">
            <a:avLst/>
          </a:prstGeom>
          <a:noFill/>
          <a:ln/>
        </p:spPr>
        <p:txBody>
          <a:bodyPr wrap="square" lIns="0" tIns="0" rIns="0" bIns="0" rtlCol="0" anchor="ctr"/>
          <a:lstStyle/>
          <a:p>
            <a:r>
              <a:rPr lang="en-US" sz="2700" dirty="0">
                <a:solidFill>
                  <a:srgbClr val="333231"/>
                </a:solidFill>
                <a:latin typeface="Calibri" pitchFamily="34" charset="0"/>
                <a:ea typeface="Calibri" pitchFamily="34" charset="-122"/>
                <a:cs typeface="Calibri" pitchFamily="34" charset="-120"/>
              </a:rPr>
              <a:t>96 out of 520 users from the survey indicated that they used free plan, as a result Spotify should introduce time-limited free trials of premium to give free users a taste of the ad-free experience, making it easier to convert them.</a:t>
            </a:r>
          </a:p>
          <a:p>
            <a:endParaRPr lang="en-US" sz="1650" dirty="0"/>
          </a:p>
        </p:txBody>
      </p:sp>
      <p:sp>
        <p:nvSpPr>
          <p:cNvPr id="11" name="Shape 8"/>
          <p:cNvSpPr/>
          <p:nvPr/>
        </p:nvSpPr>
        <p:spPr>
          <a:xfrm>
            <a:off x="9448800" y="2628900"/>
            <a:ext cx="8229600" cy="3086100"/>
          </a:xfrm>
          <a:prstGeom prst="roundRect">
            <a:avLst>
              <a:gd name="adj" fmla="val 3556"/>
            </a:avLst>
          </a:prstGeom>
          <a:solidFill>
            <a:srgbClr val="FFFFFF"/>
          </a:solidFill>
          <a:ln/>
          <a:effectLst>
            <a:outerShdw blurRad="88900" dist="25400" dir="2700000" algn="bl" rotWithShape="0">
              <a:srgbClr val="000000">
                <a:alpha val="10000"/>
              </a:srgbClr>
            </a:outerShdw>
          </a:effectLst>
        </p:spPr>
      </p:sp>
      <p:sp>
        <p:nvSpPr>
          <p:cNvPr id="12" name="Shape 9"/>
          <p:cNvSpPr/>
          <p:nvPr/>
        </p:nvSpPr>
        <p:spPr>
          <a:xfrm>
            <a:off x="9448800" y="2628900"/>
            <a:ext cx="8229600" cy="96012"/>
          </a:xfrm>
          <a:prstGeom prst="roundRect">
            <a:avLst>
              <a:gd name="adj" fmla="val 114286"/>
            </a:avLst>
          </a:prstGeom>
          <a:solidFill>
            <a:srgbClr val="1A7060"/>
          </a:solidFill>
          <a:ln w="12700">
            <a:solidFill>
              <a:srgbClr val="1A7060"/>
            </a:solidFill>
            <a:prstDash val="solid"/>
          </a:ln>
        </p:spPr>
      </p:sp>
      <p:sp>
        <p:nvSpPr>
          <p:cNvPr id="13" name="Text 10"/>
          <p:cNvSpPr/>
          <p:nvPr/>
        </p:nvSpPr>
        <p:spPr>
          <a:xfrm>
            <a:off x="9723120" y="2863203"/>
            <a:ext cx="7680960" cy="521208"/>
          </a:xfrm>
          <a:prstGeom prst="rect">
            <a:avLst/>
          </a:prstGeom>
          <a:noFill/>
          <a:ln/>
        </p:spPr>
        <p:txBody>
          <a:bodyPr wrap="square" lIns="0" tIns="0" rIns="0" bIns="0" rtlCol="0" anchor="ctr"/>
          <a:lstStyle/>
          <a:p>
            <a:r>
              <a:rPr lang="en-US" sz="3000" b="1" dirty="0">
                <a:solidFill>
                  <a:srgbClr val="106861"/>
                </a:solidFill>
                <a:latin typeface="Calibri" pitchFamily="34" charset="0"/>
                <a:ea typeface="Calibri" pitchFamily="34" charset="-122"/>
                <a:cs typeface="Calibri" pitchFamily="34" charset="-120"/>
              </a:rPr>
              <a:t>2. Leverage Melody listeners</a:t>
            </a:r>
          </a:p>
        </p:txBody>
      </p:sp>
      <p:sp>
        <p:nvSpPr>
          <p:cNvPr id="14" name="Text 11"/>
          <p:cNvSpPr/>
          <p:nvPr/>
        </p:nvSpPr>
        <p:spPr>
          <a:xfrm>
            <a:off x="9380220" y="3383280"/>
            <a:ext cx="7982712" cy="2125980"/>
          </a:xfrm>
          <a:prstGeom prst="rect">
            <a:avLst/>
          </a:prstGeom>
          <a:noFill/>
          <a:ln/>
        </p:spPr>
        <p:txBody>
          <a:bodyPr wrap="square" lIns="0" tIns="0" rIns="0" bIns="0" rtlCol="0" anchor="ctr"/>
          <a:lstStyle/>
          <a:p>
            <a:pPr lvl="1"/>
            <a:r>
              <a:rPr lang="en-US" sz="2700" dirty="0">
                <a:solidFill>
                  <a:srgbClr val="333231"/>
                </a:solidFill>
                <a:latin typeface="Calibri" pitchFamily="34" charset="0"/>
                <a:ea typeface="Calibri" pitchFamily="34" charset="-122"/>
                <a:cs typeface="Calibri" pitchFamily="34" charset="-120"/>
              </a:rPr>
              <a:t>Melody was by far the most popular genre with 420+ users. Spotify could create exclusive premium-only Melody playlists and use that as an incentive to push free Melody listeners toward upgrading.</a:t>
            </a:r>
            <a:endParaRPr lang="en-US" sz="2700" dirty="0"/>
          </a:p>
        </p:txBody>
      </p:sp>
      <p:sp>
        <p:nvSpPr>
          <p:cNvPr id="15" name="Shape 12"/>
          <p:cNvSpPr/>
          <p:nvPr/>
        </p:nvSpPr>
        <p:spPr>
          <a:xfrm>
            <a:off x="807720" y="6057900"/>
            <a:ext cx="8229600" cy="3086100"/>
          </a:xfrm>
          <a:prstGeom prst="roundRect">
            <a:avLst>
              <a:gd name="adj" fmla="val 3556"/>
            </a:avLst>
          </a:prstGeom>
          <a:solidFill>
            <a:srgbClr val="FFFFFF"/>
          </a:solidFill>
          <a:ln/>
          <a:effectLst>
            <a:outerShdw blurRad="88900" dist="25400" dir="2700000" algn="bl" rotWithShape="0">
              <a:srgbClr val="000000">
                <a:alpha val="10000"/>
              </a:srgbClr>
            </a:outerShdw>
          </a:effectLst>
        </p:spPr>
      </p:sp>
      <p:sp>
        <p:nvSpPr>
          <p:cNvPr id="16" name="Shape 13"/>
          <p:cNvSpPr/>
          <p:nvPr/>
        </p:nvSpPr>
        <p:spPr>
          <a:xfrm>
            <a:off x="807720" y="6057900"/>
            <a:ext cx="8229600" cy="96012"/>
          </a:xfrm>
          <a:prstGeom prst="roundRect">
            <a:avLst>
              <a:gd name="adj" fmla="val 114286"/>
            </a:avLst>
          </a:prstGeom>
          <a:solidFill>
            <a:srgbClr val="1A7060"/>
          </a:solidFill>
          <a:ln w="12700">
            <a:solidFill>
              <a:srgbClr val="1A7060"/>
            </a:solidFill>
            <a:prstDash val="solid"/>
          </a:ln>
        </p:spPr>
      </p:sp>
      <p:sp>
        <p:nvSpPr>
          <p:cNvPr id="17" name="Text 14"/>
          <p:cNvSpPr/>
          <p:nvPr/>
        </p:nvSpPr>
        <p:spPr>
          <a:xfrm>
            <a:off x="1013460" y="6312141"/>
            <a:ext cx="7680960" cy="521208"/>
          </a:xfrm>
          <a:prstGeom prst="rect">
            <a:avLst/>
          </a:prstGeom>
          <a:noFill/>
          <a:ln/>
        </p:spPr>
        <p:txBody>
          <a:bodyPr wrap="square" lIns="0" tIns="0" rIns="0" bIns="0" rtlCol="0" anchor="ctr"/>
          <a:lstStyle/>
          <a:p>
            <a:r>
              <a:rPr lang="en-US" sz="3000" b="1" dirty="0">
                <a:solidFill>
                  <a:srgbClr val="106861"/>
                </a:solidFill>
                <a:latin typeface="Calibri" pitchFamily="34" charset="0"/>
                <a:ea typeface="Calibri" pitchFamily="34" charset="-122"/>
                <a:cs typeface="Calibri" pitchFamily="34" charset="-120"/>
              </a:rPr>
              <a:t>3. Target marketing by age</a:t>
            </a:r>
          </a:p>
        </p:txBody>
      </p:sp>
      <p:sp>
        <p:nvSpPr>
          <p:cNvPr id="18" name="Text 15"/>
          <p:cNvSpPr/>
          <p:nvPr/>
        </p:nvSpPr>
        <p:spPr>
          <a:xfrm>
            <a:off x="1404791" y="6812280"/>
            <a:ext cx="6898299" cy="2125980"/>
          </a:xfrm>
          <a:prstGeom prst="rect">
            <a:avLst/>
          </a:prstGeom>
          <a:noFill/>
          <a:ln/>
        </p:spPr>
        <p:txBody>
          <a:bodyPr wrap="square" lIns="0" tIns="0" rIns="0" bIns="0" rtlCol="0" anchor="ctr"/>
          <a:lstStyle/>
          <a:p>
            <a:r>
              <a:rPr lang="en-US" sz="2700" dirty="0">
                <a:solidFill>
                  <a:srgbClr val="333231"/>
                </a:solidFill>
                <a:latin typeface="Calibri" pitchFamily="34" charset="0"/>
                <a:ea typeface="Calibri" pitchFamily="34" charset="-122"/>
                <a:cs typeface="Calibri" pitchFamily="34" charset="-120"/>
              </a:rPr>
              <a:t>Since age is one of the features in the data, Spotify should design age-specific campaigns — for example, student discounts for younger users and family plans for older ones.</a:t>
            </a:r>
            <a:endParaRPr lang="en-US" sz="2700" dirty="0"/>
          </a:p>
        </p:txBody>
      </p:sp>
      <p:sp>
        <p:nvSpPr>
          <p:cNvPr id="19" name="Shape 16"/>
          <p:cNvSpPr/>
          <p:nvPr/>
        </p:nvSpPr>
        <p:spPr>
          <a:xfrm>
            <a:off x="9448800" y="6057900"/>
            <a:ext cx="8229600" cy="3086100"/>
          </a:xfrm>
          <a:prstGeom prst="roundRect">
            <a:avLst>
              <a:gd name="adj" fmla="val 3556"/>
            </a:avLst>
          </a:prstGeom>
          <a:solidFill>
            <a:srgbClr val="FFFFFF"/>
          </a:solidFill>
          <a:ln/>
          <a:effectLst>
            <a:outerShdw blurRad="88900" dist="25400" dir="2700000" algn="bl" rotWithShape="0">
              <a:srgbClr val="000000">
                <a:alpha val="10000"/>
              </a:srgbClr>
            </a:outerShdw>
          </a:effectLst>
        </p:spPr>
      </p:sp>
      <p:sp>
        <p:nvSpPr>
          <p:cNvPr id="20" name="Shape 17"/>
          <p:cNvSpPr/>
          <p:nvPr/>
        </p:nvSpPr>
        <p:spPr>
          <a:xfrm>
            <a:off x="9448800" y="6057900"/>
            <a:ext cx="8229600" cy="96012"/>
          </a:xfrm>
          <a:prstGeom prst="roundRect">
            <a:avLst>
              <a:gd name="adj" fmla="val 114286"/>
            </a:avLst>
          </a:prstGeom>
          <a:solidFill>
            <a:srgbClr val="1A7060"/>
          </a:solidFill>
          <a:ln w="12700">
            <a:solidFill>
              <a:srgbClr val="1A7060"/>
            </a:solidFill>
            <a:prstDash val="solid"/>
          </a:ln>
        </p:spPr>
      </p:sp>
      <p:sp>
        <p:nvSpPr>
          <p:cNvPr id="21" name="Text 18"/>
          <p:cNvSpPr/>
          <p:nvPr/>
        </p:nvSpPr>
        <p:spPr>
          <a:xfrm>
            <a:off x="9654540" y="6373368"/>
            <a:ext cx="7680960" cy="521208"/>
          </a:xfrm>
          <a:prstGeom prst="rect">
            <a:avLst/>
          </a:prstGeom>
          <a:noFill/>
          <a:ln/>
        </p:spPr>
        <p:txBody>
          <a:bodyPr wrap="square" lIns="0" tIns="0" rIns="0" bIns="0" rtlCol="0" anchor="ctr"/>
          <a:lstStyle/>
          <a:p>
            <a:r>
              <a:rPr lang="en-US" sz="3000" b="1" dirty="0">
                <a:solidFill>
                  <a:srgbClr val="106861"/>
                </a:solidFill>
                <a:latin typeface="Calibri" pitchFamily="34" charset="0"/>
                <a:ea typeface="Calibri" pitchFamily="34" charset="-122"/>
                <a:cs typeface="Calibri" pitchFamily="34" charset="-120"/>
              </a:rPr>
              <a:t>4. Improve the premium value proposition</a:t>
            </a:r>
            <a:endParaRPr lang="en-US" sz="3000" dirty="0"/>
          </a:p>
        </p:txBody>
      </p:sp>
      <p:sp>
        <p:nvSpPr>
          <p:cNvPr id="22" name="Text 19"/>
          <p:cNvSpPr/>
          <p:nvPr/>
        </p:nvSpPr>
        <p:spPr>
          <a:xfrm>
            <a:off x="9997440" y="6894576"/>
            <a:ext cx="7680960" cy="2125980"/>
          </a:xfrm>
          <a:prstGeom prst="rect">
            <a:avLst/>
          </a:prstGeom>
          <a:noFill/>
          <a:ln/>
        </p:spPr>
        <p:txBody>
          <a:bodyPr wrap="square" lIns="0" tIns="0" rIns="0" bIns="0" rtlCol="0" anchor="ctr"/>
          <a:lstStyle/>
          <a:p>
            <a:r>
              <a:rPr lang="en-US" sz="2700" dirty="0">
                <a:solidFill>
                  <a:srgbClr val="333231"/>
                </a:solidFill>
                <a:latin typeface="Calibri" pitchFamily="34" charset="0"/>
                <a:ea typeface="Calibri" pitchFamily="34" charset="-122"/>
                <a:cs typeface="Calibri" pitchFamily="34" charset="-120"/>
              </a:rPr>
              <a:t>With such a large free user base, many users clearly don't feel premium is worth paying for. Spotify should highlight premium benefits more clearly especially to high-engagement free users.</a:t>
            </a:r>
            <a:endParaRPr lang="en-US" sz="2700" dirty="0"/>
          </a:p>
        </p:txBody>
      </p:sp>
    </p:spTree>
    <p:extLst>
      <p:ext uri="{BB962C8B-B14F-4D97-AF65-F5344CB8AC3E}">
        <p14:creationId xmlns:p14="http://schemas.microsoft.com/office/powerpoint/2010/main" val="36043360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480060" cy="10287000"/>
          </a:xfrm>
          <a:prstGeom prst="rect">
            <a:avLst/>
          </a:prstGeom>
          <a:solidFill>
            <a:srgbClr val="106861"/>
          </a:solidFill>
          <a:ln w="12700">
            <a:solidFill>
              <a:srgbClr val="106861"/>
            </a:solidFill>
            <a:prstDash val="solid"/>
          </a:ln>
        </p:spPr>
      </p:sp>
      <p:sp>
        <p:nvSpPr>
          <p:cNvPr id="3" name="Text 1"/>
          <p:cNvSpPr/>
          <p:nvPr/>
        </p:nvSpPr>
        <p:spPr>
          <a:xfrm>
            <a:off x="3657600" y="224820"/>
            <a:ext cx="12958412" cy="960120"/>
          </a:xfrm>
          <a:prstGeom prst="rect">
            <a:avLst/>
          </a:prstGeom>
          <a:noFill/>
          <a:ln/>
        </p:spPr>
        <p:txBody>
          <a:bodyPr wrap="square" lIns="0" tIns="0" rIns="0" bIns="0" rtlCol="0" anchor="ctr"/>
          <a:lstStyle/>
          <a:p>
            <a:r>
              <a:rPr lang="en-US" sz="7200" b="1" dirty="0" smtClean="0">
                <a:solidFill>
                  <a:srgbClr val="106861"/>
                </a:solidFill>
                <a:latin typeface="Calibri" pitchFamily="34" charset="0"/>
                <a:ea typeface="Calibri" pitchFamily="34" charset="-122"/>
                <a:cs typeface="Calibri" pitchFamily="34" charset="-120"/>
              </a:rPr>
              <a:t>LIMITATIONS AND SUGGESTIONS</a:t>
            </a:r>
            <a:endParaRPr lang="en-US" sz="7200" dirty="0"/>
          </a:p>
        </p:txBody>
      </p:sp>
      <p:sp>
        <p:nvSpPr>
          <p:cNvPr id="5" name="Shape 3"/>
          <p:cNvSpPr/>
          <p:nvPr/>
        </p:nvSpPr>
        <p:spPr>
          <a:xfrm flipV="1">
            <a:off x="3657600" y="1099740"/>
            <a:ext cx="12344400" cy="85201"/>
          </a:xfrm>
          <a:prstGeom prst="rect">
            <a:avLst/>
          </a:prstGeom>
          <a:solidFill>
            <a:srgbClr val="1A7060"/>
          </a:solidFill>
          <a:ln w="12700">
            <a:solidFill>
              <a:srgbClr val="87D9C4"/>
            </a:solidFill>
            <a:prstDash val="solid"/>
          </a:ln>
        </p:spPr>
      </p:sp>
      <p:pic>
        <p:nvPicPr>
          <p:cNvPr id="6" name="Image 0" descr="/home/claude/spotify_green.png"/>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17019872" y="317634"/>
            <a:ext cx="685800" cy="685800"/>
          </a:xfrm>
          <a:prstGeom prst="rect">
            <a:avLst/>
          </a:prstGeom>
        </p:spPr>
      </p:pic>
      <p:sp>
        <p:nvSpPr>
          <p:cNvPr id="7" name="Shape 4"/>
          <p:cNvSpPr/>
          <p:nvPr/>
        </p:nvSpPr>
        <p:spPr>
          <a:xfrm>
            <a:off x="685800" y="1409700"/>
            <a:ext cx="8229600" cy="8458200"/>
          </a:xfrm>
          <a:prstGeom prst="roundRect">
            <a:avLst>
              <a:gd name="adj" fmla="val 1455"/>
            </a:avLst>
          </a:prstGeom>
          <a:solidFill>
            <a:srgbClr val="FFFFFF"/>
          </a:solidFill>
          <a:ln/>
          <a:effectLst>
            <a:outerShdw blurRad="101600" dist="25400" dir="2700000" algn="bl" rotWithShape="0">
              <a:srgbClr val="000000">
                <a:alpha val="10000"/>
              </a:srgbClr>
            </a:outerShdw>
          </a:effectLst>
        </p:spPr>
      </p:sp>
      <p:sp>
        <p:nvSpPr>
          <p:cNvPr id="8" name="Text 5"/>
          <p:cNvSpPr/>
          <p:nvPr/>
        </p:nvSpPr>
        <p:spPr>
          <a:xfrm>
            <a:off x="960120" y="1549908"/>
            <a:ext cx="7680960" cy="576072"/>
          </a:xfrm>
          <a:prstGeom prst="rect">
            <a:avLst/>
          </a:prstGeom>
          <a:noFill/>
          <a:ln/>
        </p:spPr>
        <p:txBody>
          <a:bodyPr wrap="square" lIns="0" tIns="0" rIns="0" bIns="0" rtlCol="0" anchor="ctr"/>
          <a:lstStyle/>
          <a:p>
            <a:r>
              <a:rPr lang="en-US" sz="2800" b="1" dirty="0">
                <a:solidFill>
                  <a:srgbClr val="106861"/>
                </a:solidFill>
                <a:latin typeface="Calibri" pitchFamily="34" charset="0"/>
                <a:ea typeface="Calibri" pitchFamily="34" charset="-122"/>
                <a:cs typeface="Calibri" pitchFamily="34" charset="-120"/>
              </a:rPr>
              <a:t>Limitations</a:t>
            </a:r>
            <a:endParaRPr lang="en-US" sz="2800" dirty="0"/>
          </a:p>
        </p:txBody>
      </p:sp>
      <p:sp>
        <p:nvSpPr>
          <p:cNvPr id="9" name="Text 6"/>
          <p:cNvSpPr/>
          <p:nvPr/>
        </p:nvSpPr>
        <p:spPr>
          <a:xfrm>
            <a:off x="742348" y="2125980"/>
            <a:ext cx="7886700" cy="6309360"/>
          </a:xfrm>
          <a:prstGeom prst="rect">
            <a:avLst/>
          </a:prstGeom>
          <a:noFill/>
          <a:ln/>
        </p:spPr>
        <p:txBody>
          <a:bodyPr wrap="square" rtlCol="0" anchor="t"/>
          <a:lstStyle/>
          <a:p>
            <a:pPr marL="342900" indent="-342900">
              <a:spcAft>
                <a:spcPts val="600"/>
              </a:spcAft>
              <a:buSzPct val="100000"/>
              <a:buFont typeface="+mj-lt"/>
              <a:buAutoNum type="arabicPeriod"/>
            </a:pPr>
            <a:r>
              <a:rPr lang="en-US" sz="2100" b="1" dirty="0"/>
              <a:t>Small dataset:  </a:t>
            </a:r>
            <a:r>
              <a:rPr lang="en-US" sz="2100" dirty="0"/>
              <a:t>Only ~520 users were surveyed. That's not enough to confidently represent all Spotify users worldwide. The findings may not hold true on a larger scale.</a:t>
            </a:r>
          </a:p>
          <a:p>
            <a:pPr marL="342900" indent="-342900">
              <a:spcAft>
                <a:spcPts val="600"/>
              </a:spcAft>
              <a:buSzPct val="100000"/>
              <a:buFont typeface="+mj-lt"/>
              <a:buAutoNum type="arabicPeriod"/>
            </a:pPr>
            <a:endParaRPr lang="en-US" sz="2100" dirty="0"/>
          </a:p>
          <a:p>
            <a:pPr marL="342900" indent="-342900">
              <a:spcAft>
                <a:spcPts val="600"/>
              </a:spcAft>
              <a:buSzPct val="100000"/>
              <a:buFont typeface="+mj-lt"/>
              <a:buAutoNum type="arabicPeriod"/>
            </a:pPr>
            <a:r>
              <a:rPr lang="en-US" sz="2100" b="1" dirty="0"/>
              <a:t>Self-reported data: </a:t>
            </a:r>
            <a:r>
              <a:rPr lang="en-US" sz="2100" dirty="0"/>
              <a:t>The data came from a survey, meaning users answered questions themselves. People don't always remember or accurately report their listening habits, so some answers may not reflect reality.</a:t>
            </a:r>
          </a:p>
          <a:p>
            <a:pPr marL="342900" indent="-342900">
              <a:spcAft>
                <a:spcPts val="600"/>
              </a:spcAft>
              <a:buSzPct val="100000"/>
              <a:buFont typeface="+mj-lt"/>
              <a:buAutoNum type="arabicPeriod"/>
            </a:pPr>
            <a:endParaRPr lang="en-US" sz="2100" dirty="0"/>
          </a:p>
          <a:p>
            <a:pPr marL="342900" indent="-342900">
              <a:spcAft>
                <a:spcPts val="600"/>
              </a:spcAft>
              <a:buSzPct val="100000"/>
              <a:buFont typeface="+mj-lt"/>
              <a:buAutoNum type="arabicPeriod"/>
            </a:pPr>
            <a:r>
              <a:rPr lang="en-US" sz="2100" b="1" dirty="0"/>
              <a:t>Uneven classes</a:t>
            </a:r>
            <a:r>
              <a:rPr lang="en-US" sz="2100" b="1" dirty="0" smtClean="0"/>
              <a:t>: </a:t>
            </a:r>
            <a:r>
              <a:rPr lang="en-US" sz="2100" dirty="0" smtClean="0"/>
              <a:t>81</a:t>
            </a:r>
            <a:r>
              <a:rPr lang="en-US" sz="2100" dirty="0"/>
              <a:t>% of the data is free users and only 19% is premium. This imbalance means the model is much better at predicting free users than premium users, which skews the results.</a:t>
            </a:r>
          </a:p>
          <a:p>
            <a:pPr marL="342900" indent="-342900">
              <a:spcAft>
                <a:spcPts val="600"/>
              </a:spcAft>
              <a:buSzPct val="100000"/>
              <a:buFont typeface="+mj-lt"/>
              <a:buAutoNum type="arabicPeriod"/>
            </a:pPr>
            <a:endParaRPr lang="en-US" sz="2100" dirty="0"/>
          </a:p>
          <a:p>
            <a:pPr marL="342900" indent="-342900">
              <a:spcAft>
                <a:spcPts val="600"/>
              </a:spcAft>
              <a:buSzPct val="100000"/>
              <a:buFont typeface="+mj-lt"/>
              <a:buAutoNum type="arabicPeriod"/>
            </a:pPr>
            <a:r>
              <a:rPr lang="en-US" sz="2100" b="1" dirty="0"/>
              <a:t>Model simplicity: </a:t>
            </a:r>
            <a:r>
              <a:rPr lang="en-US" sz="2100" dirty="0"/>
              <a:t>Logistic Regression draws a straight line to separate the two groups. Real user behaviour is more complex than that, so the model may be missing patterns a more advanced model would catch.</a:t>
            </a:r>
          </a:p>
          <a:p>
            <a:pPr marL="342900" indent="-342900">
              <a:spcAft>
                <a:spcPts val="600"/>
              </a:spcAft>
              <a:buSzPct val="100000"/>
              <a:buFont typeface="+mj-lt"/>
              <a:buAutoNum type="arabicPeriod"/>
            </a:pPr>
            <a:endParaRPr lang="en-US" sz="2100" dirty="0"/>
          </a:p>
          <a:p>
            <a:pPr marL="342900" indent="-342900">
              <a:spcAft>
                <a:spcPts val="600"/>
              </a:spcAft>
              <a:buSzPct val="100000"/>
              <a:buFont typeface="+mj-lt"/>
              <a:buAutoNum type="arabicPeriod"/>
            </a:pPr>
            <a:r>
              <a:rPr lang="en-US" sz="2100" b="1" dirty="0"/>
              <a:t>No time element: </a:t>
            </a:r>
            <a:r>
              <a:rPr lang="en-US" sz="2100" dirty="0"/>
              <a:t>The data is a one-time snapshot. It doesn't show how user behaviour changes over time, which limits how useful the insights are for long-term decisions.</a:t>
            </a:r>
          </a:p>
          <a:p>
            <a:pPr marL="514350" indent="-514350">
              <a:spcAft>
                <a:spcPts val="600"/>
              </a:spcAft>
              <a:buSzPct val="100000"/>
              <a:buChar char="•"/>
            </a:pPr>
            <a:endParaRPr lang="en-US" sz="1725" dirty="0"/>
          </a:p>
        </p:txBody>
      </p:sp>
      <p:sp>
        <p:nvSpPr>
          <p:cNvPr id="10" name="Shape 7"/>
          <p:cNvSpPr/>
          <p:nvPr/>
        </p:nvSpPr>
        <p:spPr>
          <a:xfrm>
            <a:off x="9476072" y="1409700"/>
            <a:ext cx="8229600" cy="8458200"/>
          </a:xfrm>
          <a:prstGeom prst="roundRect">
            <a:avLst>
              <a:gd name="adj" fmla="val 1455"/>
            </a:avLst>
          </a:prstGeom>
          <a:solidFill>
            <a:srgbClr val="106861"/>
          </a:solidFill>
          <a:ln w="12700">
            <a:solidFill>
              <a:srgbClr val="106861"/>
            </a:solidFill>
            <a:prstDash val="solid"/>
          </a:ln>
        </p:spPr>
      </p:sp>
      <p:sp>
        <p:nvSpPr>
          <p:cNvPr id="11" name="Text 8"/>
          <p:cNvSpPr/>
          <p:nvPr/>
        </p:nvSpPr>
        <p:spPr>
          <a:xfrm>
            <a:off x="9750392" y="1738402"/>
            <a:ext cx="7680960" cy="576072"/>
          </a:xfrm>
          <a:prstGeom prst="rect">
            <a:avLst/>
          </a:prstGeom>
          <a:noFill/>
          <a:ln/>
        </p:spPr>
        <p:txBody>
          <a:bodyPr wrap="square" lIns="0" tIns="0" rIns="0" bIns="0" rtlCol="0" anchor="ctr"/>
          <a:lstStyle/>
          <a:p>
            <a:r>
              <a:rPr lang="en-US" sz="2800" b="1" dirty="0" smtClean="0">
                <a:solidFill>
                  <a:srgbClr val="87D9C4"/>
                </a:solidFill>
                <a:latin typeface="Calibri" pitchFamily="34" charset="0"/>
                <a:ea typeface="Calibri" pitchFamily="34" charset="-122"/>
                <a:cs typeface="Calibri" pitchFamily="34" charset="-120"/>
              </a:rPr>
              <a:t>Suggestions</a:t>
            </a:r>
            <a:endParaRPr lang="en-US" sz="2800" dirty="0"/>
          </a:p>
        </p:txBody>
      </p:sp>
      <p:sp>
        <p:nvSpPr>
          <p:cNvPr id="12" name="Text 9"/>
          <p:cNvSpPr/>
          <p:nvPr/>
        </p:nvSpPr>
        <p:spPr>
          <a:xfrm>
            <a:off x="9738360" y="3017520"/>
            <a:ext cx="7680960" cy="6309360"/>
          </a:xfrm>
          <a:prstGeom prst="rect">
            <a:avLst/>
          </a:prstGeom>
          <a:noFill/>
          <a:ln/>
        </p:spPr>
        <p:txBody>
          <a:bodyPr wrap="square" rtlCol="0" anchor="t"/>
          <a:lstStyle/>
          <a:p>
            <a:pPr marL="514350" indent="-514350">
              <a:spcAft>
                <a:spcPts val="600"/>
              </a:spcAft>
              <a:buSzPct val="100000"/>
              <a:buChar char="•"/>
            </a:pPr>
            <a:endParaRPr lang="en-US" sz="1725" dirty="0"/>
          </a:p>
        </p:txBody>
      </p:sp>
      <p:sp>
        <p:nvSpPr>
          <p:cNvPr id="13" name="Rectangle 2"/>
          <p:cNvSpPr>
            <a:spLocks noChangeArrowheads="1"/>
          </p:cNvSpPr>
          <p:nvPr/>
        </p:nvSpPr>
        <p:spPr bwMode="auto">
          <a:xfrm>
            <a:off x="9778465" y="2461279"/>
            <a:ext cx="7903143"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smtClean="0">
                <a:ln>
                  <a:noFill/>
                </a:ln>
                <a:solidFill>
                  <a:schemeClr val="bg1">
                    <a:lumMod val="95000"/>
                  </a:schemeClr>
                </a:solidFill>
                <a:effectLst/>
              </a:rPr>
              <a:t>Collect more data</a:t>
            </a:r>
            <a:r>
              <a:rPr lang="en-US" altLang="en-US" sz="2800" dirty="0" smtClean="0">
                <a:solidFill>
                  <a:schemeClr val="bg1">
                    <a:lumMod val="95000"/>
                  </a:schemeClr>
                </a:solidFill>
              </a:rPr>
              <a:t>: A</a:t>
            </a:r>
            <a:r>
              <a:rPr kumimoji="0" lang="en-US" altLang="en-US" sz="2800" b="0" i="0" u="none" strike="noStrike" cap="none" normalizeH="0" baseline="0" dirty="0" smtClean="0">
                <a:ln>
                  <a:noFill/>
                </a:ln>
                <a:solidFill>
                  <a:schemeClr val="bg1">
                    <a:lumMod val="95000"/>
                  </a:schemeClr>
                </a:solidFill>
                <a:effectLst/>
              </a:rPr>
              <a:t> larger, more diverse dataset would make the findings more reliable and generalisable.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800" b="0" i="0" u="none" strike="noStrike" cap="none" normalizeH="0" baseline="0" dirty="0" smtClean="0">
              <a:ln>
                <a:noFill/>
              </a:ln>
              <a:solidFill>
                <a:schemeClr val="bg1">
                  <a:lumMod val="95000"/>
                </a:schemeClr>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smtClean="0">
                <a:ln>
                  <a:noFill/>
                </a:ln>
                <a:solidFill>
                  <a:schemeClr val="bg1">
                    <a:lumMod val="95000"/>
                  </a:schemeClr>
                </a:solidFill>
                <a:effectLst/>
              </a:rPr>
              <a:t>Fix the class imbalance</a:t>
            </a:r>
            <a:r>
              <a:rPr lang="en-US" altLang="en-US" sz="2800" dirty="0">
                <a:solidFill>
                  <a:schemeClr val="bg1">
                    <a:lumMod val="95000"/>
                  </a:schemeClr>
                </a:solidFill>
              </a:rPr>
              <a:t>:</a:t>
            </a:r>
            <a:r>
              <a:rPr kumimoji="0" lang="en-US" altLang="en-US" sz="2800" b="0" i="0" u="none" strike="noStrike" cap="none" normalizeH="0" baseline="0" dirty="0" smtClean="0">
                <a:ln>
                  <a:noFill/>
                </a:ln>
                <a:solidFill>
                  <a:schemeClr val="bg1">
                    <a:lumMod val="95000"/>
                  </a:schemeClr>
                </a:solidFill>
                <a:effectLst/>
              </a:rPr>
              <a:t> Use techniques like SMOTE to balance the free vs premium split before training the model.</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800" b="0" i="0" u="none" strike="noStrike" cap="none" normalizeH="0" baseline="0" dirty="0" smtClean="0">
              <a:ln>
                <a:noFill/>
              </a:ln>
              <a:solidFill>
                <a:schemeClr val="bg1">
                  <a:lumMod val="95000"/>
                </a:schemeClr>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smtClean="0">
                <a:ln>
                  <a:noFill/>
                </a:ln>
                <a:solidFill>
                  <a:schemeClr val="bg1">
                    <a:lumMod val="95000"/>
                  </a:schemeClr>
                </a:solidFill>
                <a:effectLst/>
              </a:rPr>
              <a:t>Try better models</a:t>
            </a:r>
            <a:r>
              <a:rPr lang="en-US" altLang="en-US" sz="2800" dirty="0">
                <a:solidFill>
                  <a:schemeClr val="bg1">
                    <a:lumMod val="95000"/>
                  </a:schemeClr>
                </a:solidFill>
              </a:rPr>
              <a:t>:</a:t>
            </a:r>
            <a:r>
              <a:rPr kumimoji="0" lang="en-US" altLang="en-US" sz="2800" b="0" i="0" u="none" strike="noStrike" cap="none" normalizeH="0" baseline="0" dirty="0" smtClean="0">
                <a:ln>
                  <a:noFill/>
                </a:ln>
                <a:solidFill>
                  <a:schemeClr val="bg1">
                    <a:lumMod val="95000"/>
                  </a:schemeClr>
                </a:solidFill>
                <a:effectLst/>
              </a:rPr>
              <a:t> Test Random Forest or </a:t>
            </a:r>
            <a:r>
              <a:rPr kumimoji="0" lang="en-US" altLang="en-US" sz="2800" b="0" i="0" u="none" strike="noStrike" cap="none" normalizeH="0" baseline="0" dirty="0" err="1" smtClean="0">
                <a:ln>
                  <a:noFill/>
                </a:ln>
                <a:solidFill>
                  <a:schemeClr val="bg1">
                    <a:lumMod val="95000"/>
                  </a:schemeClr>
                </a:solidFill>
                <a:effectLst/>
              </a:rPr>
              <a:t>XGBoost</a:t>
            </a:r>
            <a:r>
              <a:rPr kumimoji="0" lang="en-US" altLang="en-US" sz="2800" b="0" i="0" u="none" strike="noStrike" cap="none" normalizeH="0" baseline="0" dirty="0" smtClean="0">
                <a:ln>
                  <a:noFill/>
                </a:ln>
                <a:solidFill>
                  <a:schemeClr val="bg1">
                    <a:lumMod val="95000"/>
                  </a:schemeClr>
                </a:solidFill>
                <a:effectLst/>
              </a:rPr>
              <a:t> to see if they can find deeper patterns and improve accuracy. </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800" b="0" i="0" u="none" strike="noStrike" cap="none" normalizeH="0" baseline="0" dirty="0" smtClean="0">
              <a:ln>
                <a:noFill/>
              </a:ln>
              <a:solidFill>
                <a:schemeClr val="bg1">
                  <a:lumMod val="95000"/>
                </a:schemeClr>
              </a:solidFill>
              <a:effectLst/>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smtClean="0">
                <a:ln>
                  <a:noFill/>
                </a:ln>
                <a:solidFill>
                  <a:schemeClr val="bg1">
                    <a:lumMod val="95000"/>
                  </a:schemeClr>
                </a:solidFill>
                <a:effectLst/>
              </a:rPr>
              <a:t>Identify top predictors</a:t>
            </a:r>
            <a:r>
              <a:rPr kumimoji="0" lang="en-US" altLang="en-US" sz="2800" b="0" i="0" u="none" strike="noStrike" cap="none" normalizeH="0" baseline="0" dirty="0" smtClean="0">
                <a:ln>
                  <a:noFill/>
                </a:ln>
                <a:solidFill>
                  <a:schemeClr val="bg1">
                    <a:lumMod val="95000"/>
                  </a:schemeClr>
                </a:solidFill>
                <a:effectLst/>
              </a:rPr>
              <a:t> :</a:t>
            </a:r>
            <a:r>
              <a:rPr kumimoji="0" lang="en-US" altLang="en-US" sz="2800" b="0" i="0" u="none" strike="noStrike" cap="none" normalizeH="0" dirty="0" smtClean="0">
                <a:ln>
                  <a:noFill/>
                </a:ln>
                <a:solidFill>
                  <a:schemeClr val="bg1">
                    <a:lumMod val="95000"/>
                  </a:schemeClr>
                </a:solidFill>
                <a:effectLst/>
              </a:rPr>
              <a:t> D</a:t>
            </a:r>
            <a:r>
              <a:rPr kumimoji="0" lang="en-US" altLang="en-US" sz="2800" b="0" i="0" u="none" strike="noStrike" cap="none" normalizeH="0" baseline="0" dirty="0" smtClean="0">
                <a:ln>
                  <a:noFill/>
                </a:ln>
                <a:solidFill>
                  <a:schemeClr val="bg1">
                    <a:lumMod val="95000"/>
                  </a:schemeClr>
                </a:solidFill>
                <a:effectLst/>
              </a:rPr>
              <a:t>o a deeper analysis to find out exactly which features most influence whether a user goes premium. </a:t>
            </a:r>
          </a:p>
        </p:txBody>
      </p:sp>
    </p:spTree>
    <p:extLst>
      <p:ext uri="{BB962C8B-B14F-4D97-AF65-F5344CB8AC3E}">
        <p14:creationId xmlns:p14="http://schemas.microsoft.com/office/powerpoint/2010/main" val="9186678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028" name="Picture 4" descr="White line Thank you with heart icon isolated with long shadow background. Handwritten lettering. Green circle button. Vecto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36928" y1="34150" x2="29739" y2="33660"/>
                        <a14:foregroundMark x1="29412" y1="33824" x2="27614" y2="40033"/>
                        <a14:foregroundMark x1="27614" y1="40033" x2="29248" y2="58333"/>
                        <a14:foregroundMark x1="29248" y1="58660" x2="29248" y2="59150"/>
                        <a14:foregroundMark x1="29248" y1="59967" x2="28595" y2="61438"/>
                        <a14:foregroundMark x1="29412" y1="61438" x2="52614" y2="61601"/>
                        <a14:foregroundMark x1="55229" y1="61438" x2="60131" y2="65850"/>
                        <a14:foregroundMark x1="61275" y1="65850" x2="68791" y2="59641"/>
                        <a14:foregroundMark x1="69281" y1="58987" x2="71078" y2="54248"/>
                        <a14:foregroundMark x1="71078" y1="51797" x2="67810" y2="48039"/>
                        <a14:foregroundMark x1="67810" y1="47876" x2="63235" y2="44608"/>
                        <a14:foregroundMark x1="63399" y1="43954" x2="64052" y2="33660"/>
                        <a14:foregroundMark x1="63725" y1="33660" x2="36438" y2="32026"/>
                        <a14:foregroundMark x1="36438" y1="33333" x2="33333" y2="34641"/>
                        <a14:foregroundMark x1="34804" y1="34967" x2="48856" y2="41830"/>
                        <a14:foregroundMark x1="41340" y1="40523" x2="39379" y2="54412"/>
                        <a14:foregroundMark x1="31373" y1="41340" x2="54412" y2="48039"/>
                        <a14:foregroundMark x1="28922" y1="38725" x2="40033" y2="49020"/>
                        <a14:foregroundMark x1="29739" y1="40196" x2="28268" y2="62745"/>
                        <a14:foregroundMark x1="46078" y1="53922" x2="30065" y2="52614"/>
                        <a14:foregroundMark x1="41667" y1="55065" x2="35458" y2="58987"/>
                        <a14:foregroundMark x1="41667" y1="58170" x2="61601" y2="49837"/>
                        <a14:foregroundMark x1="44935" y1="44935" x2="68791" y2="34804"/>
                        <a14:foregroundMark x1="36601" y1="40196" x2="63399" y2="35784"/>
                        <a14:foregroundMark x1="38399" y1="35458" x2="60621" y2="36275"/>
                        <a14:foregroundMark x1="37745" y1="35784" x2="61438" y2="34477"/>
                        <a14:foregroundMark x1="59967" y1="48856" x2="59967" y2="55719"/>
                        <a14:foregroundMark x1="58333" y1="41830" x2="60784" y2="46078"/>
                        <a14:foregroundMark x1="33824" y1="38072" x2="33333" y2="42974"/>
                      </a14:backgroundRemoval>
                    </a14:imgEffect>
                  </a14:imgLayer>
                </a14:imgProps>
              </a:ext>
              <a:ext uri="{28A0092B-C50C-407E-A947-70E740481C1C}">
                <a14:useLocalDpi xmlns:a14="http://schemas.microsoft.com/office/drawing/2010/main" val="0"/>
              </a:ext>
            </a:extLst>
          </a:blip>
          <a:srcRect/>
          <a:stretch>
            <a:fillRect/>
          </a:stretch>
        </p:blipFill>
        <p:spPr bwMode="auto">
          <a:xfrm>
            <a:off x="4572000" y="1028700"/>
            <a:ext cx="8763000" cy="8763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49298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6165</TotalTime>
  <Words>864</Words>
  <Application>Microsoft Office PowerPoint</Application>
  <PresentationFormat>Custom</PresentationFormat>
  <Paragraphs>123</Paragraphs>
  <Slides>10</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Consolas</vt:lpstr>
      <vt:lpstr>Open Sauce Bold</vt:lpstr>
      <vt:lpstr>Bahnschrift</vt:lpstr>
      <vt:lpstr>DM Sans Bold</vt:lpstr>
      <vt:lpstr>Arial</vt:lpstr>
      <vt:lpstr>Arial Rounded MT Bold</vt:lpstr>
      <vt:lpstr>Calibri</vt:lpstr>
      <vt:lpstr>Open Sauce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Green Simple  Professional Business Project Presentation</dc:title>
  <dc:creator>Divine ibekwe</dc:creator>
  <cp:lastModifiedBy>HP</cp:lastModifiedBy>
  <cp:revision>89</cp:revision>
  <dcterms:created xsi:type="dcterms:W3CDTF">2006-08-16T00:00:00Z</dcterms:created>
  <dcterms:modified xsi:type="dcterms:W3CDTF">2026-06-26T09:45:15Z</dcterms:modified>
  <dc:identifier>DAGTp_U13IM</dc:identifier>
</cp:coreProperties>
</file>